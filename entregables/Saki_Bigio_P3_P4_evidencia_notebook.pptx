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6b3e1eedfc144c4" /><Relationship Type="http://schemas.openxmlformats.org/officeDocument/2006/relationships/extended-properties" Target="/docProps/app.xml" Id="Rfcf77f840a5a4a75" /><Relationship Type="http://schemas.openxmlformats.org/officeDocument/2006/relationships/officeDocument" Target="/ppt/presentation.xml" Id="R0c8929a012604d80" /></Relationships>
</file>

<file path=ppt/presentation.xml><?xml version="1.0" encoding="utf-8"?>
<p:presentation xmlns:p="http://schemas.openxmlformats.org/presentationml/2006/main">
  <p:sldMasterIdLst>
    <p:sldMasterId xmlns:r="http://schemas.openxmlformats.org/officeDocument/2006/relationships" id="2147483648" r:id="R3bcb831991ad4e62"/>
  </p:sldMasterIdLst>
  <p:notesMasterIdLst>
    <p:notesMasterId xmlns:r="http://schemas.openxmlformats.org/officeDocument/2006/relationships" r:id="Refcfb31a6280476d"/>
  </p:notesMasterIdLst>
  <p:sldIdLst>
    <p:sldId xmlns:r="http://schemas.openxmlformats.org/officeDocument/2006/relationships" id="256" r:id="R02be0577d25547cc"/>
    <p:sldId xmlns:r="http://schemas.openxmlformats.org/officeDocument/2006/relationships" id="257" r:id="Rbee7d05cdd2b4220"/>
    <p:sldId xmlns:r="http://schemas.openxmlformats.org/officeDocument/2006/relationships" id="258" r:id="Rc38535b26ecd42c9"/>
    <p:sldId xmlns:r="http://schemas.openxmlformats.org/officeDocument/2006/relationships" id="259" r:id="Reb48830cb99c4d6e"/>
    <p:sldId xmlns:r="http://schemas.openxmlformats.org/officeDocument/2006/relationships" id="260" r:id="Rdbfd4d71b9774d66"/>
    <p:sldId xmlns:r="http://schemas.openxmlformats.org/officeDocument/2006/relationships" id="261" r:id="R0757cb9e43434dd9"/>
    <p:sldId xmlns:r="http://schemas.openxmlformats.org/officeDocument/2006/relationships" id="262" r:id="R1ae8922053ee4fc7"/>
    <p:sldId xmlns:r="http://schemas.openxmlformats.org/officeDocument/2006/relationships" id="263" r:id="R57bab30be620451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1216022a9434eee" /><Relationship Type="http://schemas.openxmlformats.org/officeDocument/2006/relationships/slideMaster" Target="/ppt/slideMasters/slideMaster1.xml" Id="R3bcb831991ad4e62" /><Relationship Type="http://schemas.openxmlformats.org/officeDocument/2006/relationships/notesMaster" Target="/ppt/notesMasters/notesMaster1.xml" Id="Refcfb31a6280476d" /><Relationship Type="http://schemas.openxmlformats.org/officeDocument/2006/relationships/presProps" Target="/ppt/presProps.xml" Id="R9bdb4acf9fa24b85" /><Relationship Type="http://schemas.openxmlformats.org/officeDocument/2006/relationships/tableStyles" Target="/ppt/tableStyles.xml" Id="Rfe32507e845446f0" /><Relationship Type="http://schemas.openxmlformats.org/officeDocument/2006/relationships/slide" Target="/ppt/slides/slide1.xml" Id="R02be0577d25547cc" /><Relationship Type="http://schemas.openxmlformats.org/officeDocument/2006/relationships/slide" Target="/ppt/slides/slide2.xml" Id="Rbee7d05cdd2b4220" /><Relationship Type="http://schemas.openxmlformats.org/officeDocument/2006/relationships/slide" Target="/ppt/slides/slide3.xml" Id="Rc38535b26ecd42c9" /><Relationship Type="http://schemas.openxmlformats.org/officeDocument/2006/relationships/slide" Target="/ppt/slides/slide4.xml" Id="Reb48830cb99c4d6e" /><Relationship Type="http://schemas.openxmlformats.org/officeDocument/2006/relationships/slide" Target="/ppt/slides/slide5.xml" Id="Rdbfd4d71b9774d66" /><Relationship Type="http://schemas.openxmlformats.org/officeDocument/2006/relationships/slide" Target="/ppt/slides/slide6.xml" Id="R0757cb9e43434dd9" /><Relationship Type="http://schemas.openxmlformats.org/officeDocument/2006/relationships/slide" Target="/ppt/slides/slide7.xml" Id="R1ae8922053ee4fc7" /><Relationship Type="http://schemas.openxmlformats.org/officeDocument/2006/relationships/slide" Target="/ppt/slides/slide8.xml" Id="R57bab30be620451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76926e3c58d45e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5c670ff158947a0" /><Relationship Type="http://schemas.openxmlformats.org/officeDocument/2006/relationships/notesMaster" Target="/ppt/notesMasters/notesMaster1.xml" Id="R3591e045d0cc4cea" /></Relationships>
</file>

<file path=ppt/notesSlides/_rels/notesSlide2.xml.rels>&#65279;<?xml version="1.0" encoding="utf-8"?><Relationships xmlns="http://schemas.openxmlformats.org/package/2006/relationships"><Relationship Type="http://schemas.openxmlformats.org/officeDocument/2006/relationships/slide" Target="/ppt/slides/slide2.xml" Id="R1b3751f648614e58" /><Relationship Type="http://schemas.openxmlformats.org/officeDocument/2006/relationships/notesMaster" Target="/ppt/notesMasters/notesMaster1.xml" Id="R0c6db606c28e420f" /></Relationships>
</file>

<file path=ppt/notesSlides/_rels/notesSlide3.xml.rels>&#65279;<?xml version="1.0" encoding="utf-8"?><Relationships xmlns="http://schemas.openxmlformats.org/package/2006/relationships"><Relationship Type="http://schemas.openxmlformats.org/officeDocument/2006/relationships/slide" Target="/ppt/slides/slide3.xml" Id="Rf87faf83a86f41a9" /><Relationship Type="http://schemas.openxmlformats.org/officeDocument/2006/relationships/notesMaster" Target="/ppt/notesMasters/notesMaster1.xml" Id="R593cbff2d0c84f90" /></Relationships>
</file>

<file path=ppt/notesSlides/_rels/notesSlide4.xml.rels>&#65279;<?xml version="1.0" encoding="utf-8"?><Relationships xmlns="http://schemas.openxmlformats.org/package/2006/relationships"><Relationship Type="http://schemas.openxmlformats.org/officeDocument/2006/relationships/slide" Target="/ppt/slides/slide4.xml" Id="R510581e39fb6445d" /><Relationship Type="http://schemas.openxmlformats.org/officeDocument/2006/relationships/notesMaster" Target="/ppt/notesMasters/notesMaster1.xml" Id="R411a8ee4b5b840db" /></Relationships>
</file>

<file path=ppt/notesSlides/_rels/notesSlide5.xml.rels>&#65279;<?xml version="1.0" encoding="utf-8"?><Relationships xmlns="http://schemas.openxmlformats.org/package/2006/relationships"><Relationship Type="http://schemas.openxmlformats.org/officeDocument/2006/relationships/slide" Target="/ppt/slides/slide5.xml" Id="Ra5e95625672c44ac" /><Relationship Type="http://schemas.openxmlformats.org/officeDocument/2006/relationships/notesMaster" Target="/ppt/notesMasters/notesMaster1.xml" Id="R4d8aea4ae27c4fe9" /></Relationships>
</file>

<file path=ppt/notesSlides/_rels/notesSlide6.xml.rels>&#65279;<?xml version="1.0" encoding="utf-8"?><Relationships xmlns="http://schemas.openxmlformats.org/package/2006/relationships"><Relationship Type="http://schemas.openxmlformats.org/officeDocument/2006/relationships/slide" Target="/ppt/slides/slide6.xml" Id="R32402a3926b64e69" /><Relationship Type="http://schemas.openxmlformats.org/officeDocument/2006/relationships/notesMaster" Target="/ppt/notesMasters/notesMaster1.xml" Id="Rf50f1d4447e34e03" /></Relationships>
</file>

<file path=ppt/notesSlides/_rels/notesSlide7.xml.rels>&#65279;<?xml version="1.0" encoding="utf-8"?><Relationships xmlns="http://schemas.openxmlformats.org/package/2006/relationships"><Relationship Type="http://schemas.openxmlformats.org/officeDocument/2006/relationships/slide" Target="/ppt/slides/slide7.xml" Id="R8932190c92b04d6e" /><Relationship Type="http://schemas.openxmlformats.org/officeDocument/2006/relationships/notesMaster" Target="/ppt/notesMasters/notesMaster1.xml" Id="R975c2f88b710479a" /></Relationships>
</file>

<file path=ppt/notesSlides/_rels/notesSlide8.xml.rels>&#65279;<?xml version="1.0" encoding="utf-8"?><Relationships xmlns="http://schemas.openxmlformats.org/package/2006/relationships"><Relationship Type="http://schemas.openxmlformats.org/officeDocument/2006/relationships/slide" Target="/ppt/slides/slide8.xml" Id="Ra0a3ee6d189d497f" /><Relationship Type="http://schemas.openxmlformats.org/officeDocument/2006/relationships/notesMaster" Target="/ppt/notesMasters/notesMaster1.xml" Id="R8a21613e37a446a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0:50.</a:t>
            </a:r>
          </a:p>
          <a:p xmlns:a="http://schemas.openxmlformats.org/drawingml/2006/main">
            <a:r>
              <a:t/>
            </a:r>
          </a:p>
          <a:p xmlns:a="http://schemas.openxmlformats.org/drawingml/2006/main">
            <a:r>
              <a:t>GUION: Mi respuesta a las preguntas 3 y 4 parte de una tesis precisa. No es una cita literal, sino una síntesis de tres investigaciones. En los modelos de Bigio, la liquidez no se supone disponible: se determina dentro del equilibrio. Las fricciones de información y liquidación, los balances bancarios y la oferta de reservas condicionan cuánto crédito se crea y cómo se transmite la política monetaria. Por eso, una sola tasa no resume todo lo que hace el banco central.</a:t>
            </a:r>
          </a:p>
          <a:p xmlns:a="http://schemas.openxmlformats.org/drawingml/2006/main">
            <a:r>
              <a:t/>
            </a:r>
          </a:p>
          <a:p xmlns:a="http://schemas.openxmlformats.org/drawingml/2006/main">
            <a:r>
              <a:t>FUENTES: Bigio (2015), p. 1; Bianchi y Bigio (2022 [2013]), p. 1; Bigio (2022), p. 372.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1:10.</a:t>
            </a:r>
          </a:p>
          <a:p xmlns:a="http://schemas.openxmlformats.org/drawingml/2006/main">
            <a:r>
              <a:t/>
            </a:r>
          </a:p>
          <a:p xmlns:a="http://schemas.openxmlformats.org/drawingml/2006/main">
            <a:r>
              <a:t>GUION: El notebook permite observar si la interpretación textual es consistente con el corpus completo. En la primera etapa aparecen Perú, bancos, liquidez y ciclo. En la segunda se vuelven distintivos la liquidez privada y los precios de activos. En la etapa reciente aparecen política monetaria, balances, préstamos y pasivos bancarios. El patrón no demuestra el mecanismo teórico, porque trabaja con títulos y con una medida TF-IDF. Sí muestra que banca y liquidez no son una lectura accidental de dos papers: forman un eje persistente de su producción.</a:t>
            </a:r>
          </a:p>
          <a:p xmlns:a="http://schemas.openxmlformats.org/drawingml/2006/main">
            <a:r>
              <a:t/>
            </a:r>
          </a:p>
          <a:p xmlns:a="http://schemas.openxmlformats.org/drawingml/2006/main">
            <a:r>
              <a:t>FUENTE: analisis_bibliometrico.ipynb, figura 05_terminos_distintivos.png.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1:40.</a:t>
            </a:r>
          </a:p>
          <a:p xmlns:a="http://schemas.openxmlformats.org/drawingml/2006/main">
            <a:r>
              <a:t/>
            </a:r>
          </a:p>
          <a:p xmlns:a="http://schemas.openxmlformats.org/drawingml/2006/main">
            <a:r>
              <a:t>GUION: El mecanismo comienza con fricciones concretas. Si los agentes conocen de manera desigual la calidad de los activos, o si liquidar pagos cuesta recursos, no todo activo sirve igualmente para comerciar. La liquidez se vuelve un resultado de equilibrio. Los bancos crean depósitos que circulan, pero deben liquidar pagos con reservas. El banco central modifica ese conflicto mediante su oferta de reservas, el colateral y la composición de su balance. De ahí surgen respuestas heterogéneas entre bancos y muchas tasas relevantes. La conclusión no es que la tasa deje de importar, sino que ya no es un estadístico suficiente de la postura monetaria.</a:t>
            </a:r>
          </a:p>
          <a:p xmlns:a="http://schemas.openxmlformats.org/drawingml/2006/main">
            <a:r>
              <a:t/>
            </a:r>
          </a:p>
          <a:p xmlns:a="http://schemas.openxmlformats.org/drawingml/2006/main">
            <a:r>
              <a:t>FUENTES: Bigio (2015), p. 1; Bianchi y Bigio (2022 [2013]), p. 1; Bigio (2022), pp. 372 y 377–379; Bigio (2026), p. 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1:30.</a:t>
            </a:r>
          </a:p>
          <a:p xmlns:a="http://schemas.openxmlformats.org/drawingml/2006/main">
            <a:r>
              <a:t/>
            </a:r>
          </a:p>
          <a:p xmlns:a="http://schemas.openxmlformats.org/drawingml/2006/main">
            <a:r>
              <a:t>GUION: La pregunta 4 no se responde con una lista plana. En el capítulo de la Universidad del Pacífico, dirigido a una audiencia peruana, Bigio ubica el origen en el BCRP de 2004 y en la separación entre modelación y estadísticas monetarias. En su ensayo de agenda de 2026, para la profesión internacional, ubica el origen en la caída de Bear Stearns y en su dificultad para definir liquidez. No son relatos incompatibles. El capítulo ofrece memoria intelectual; los working papers muestran circulación temprana; los artículos fijan la formalización; las discussions revelan su criterio metodológico; la carta del COVID traduce el marco en recomendación; y la research vision ordena retrospectivamente la agenda.</a:t>
            </a:r>
          </a:p>
          <a:p xmlns:a="http://schemas.openxmlformats.org/drawingml/2006/main">
            <a:r>
              <a:t/>
            </a:r>
          </a:p>
          <a:p xmlns:a="http://schemas.openxmlformats.org/drawingml/2006/main">
            <a:r>
              <a:t>FUENTES: Bigio (2022), p. 371; Bigio (2026), pp. 1–2; corpus.csv.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1:30.</a:t>
            </a:r>
          </a:p>
          <a:p xmlns:a="http://schemas.openxmlformats.org/drawingml/2006/main">
            <a:r>
              <a:t/>
            </a:r>
          </a:p>
          <a:p xmlns:a="http://schemas.openxmlformats.org/drawingml/2006/main">
            <a:r>
              <a:t>GUION: El valor añadido de nuestra lectura es reconstruir un viaje de ida y vuelta. El BCRP diferenciaba encajes por moneda desde 1992. Durante la crisis global redujo encajes antes de bajar la tasa porque el canal de tasas se había debilitado. Bigio había trabajado allí en 2004 y convirtió esa anomalía en una pregunta teórica. La primera versión verificable del modelo de gestión de liquidez bancaria circula en 2013 y la publicación final aparece en 2022. En la pandemia, la misma arquitectura reaparece en su advertencia sobre la cadena de pagos. La cautela importa: la cronología prueba precedencia, no que la política peruana y el modelo sean idénticos ni una causalidad intelectual exclusiva. En suma, la experiencia formula la pregunta, la teoría la generaliza y la política devuelve el resultado a instituciones concretas.</a:t>
            </a:r>
          </a:p>
          <a:p xmlns:a="http://schemas.openxmlformats.org/drawingml/2006/main">
            <a:r>
              <a:t/>
            </a:r>
          </a:p>
          <a:p xmlns:a="http://schemas.openxmlformats.org/drawingml/2006/main">
            <a:r>
              <a:t>FUENTES: Rossini (2016), p. 27; Quispe y Rossini (2010), pp. 299, 304, 308 y 310; Bigio (2022), pp. 371–379.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DE RESPALDO.</a:t>
            </a:r>
          </a:p>
          <a:p xmlns:a="http://schemas.openxmlformats.org/drawingml/2006/main">
            <a:r>
              <a:t/>
            </a:r>
          </a:p>
          <a:p xmlns:a="http://schemas.openxmlformats.org/drawingml/2006/main">
            <a:r>
              <a:t>USO: si preguntan por influencia, esta figura compara citas por año de versiones representativas y el impacto normalizado por campo y año. Se trabajó con 34 obras canónicas y no se sumaron versiones. Endogenous Liquidity registra un FWCI de 61,6 y Distortions in Production Networks uno de 42,8. La bibliometría demuestra recepción; la interpretación de las ideas descansa en la lectura de los textos.</a:t>
            </a:r>
          </a:p>
          <a:p xmlns:a="http://schemas.openxmlformats.org/drawingml/2006/main">
            <a:r>
              <a:t/>
            </a:r>
          </a:p>
          <a:p xmlns:a="http://schemas.openxmlformats.org/drawingml/2006/main">
            <a:r>
              <a:t>FUENTE: analisis_bibliometrico.ipynb, figura 02_impacto.png.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DE RESPALDO.</a:t>
            </a:r>
          </a:p>
          <a:p xmlns:a="http://schemas.openxmlformats.org/drawingml/2006/main">
            <a:r>
              <a:t/>
            </a:r>
          </a:p>
          <a:p xmlns:a="http://schemas.openxmlformats.org/drawingml/2006/main">
            <a:r>
              <a:t>USO: si preguntan por qué P4 incluye working papers, esta figura muestra el rezago entre la primera versión pública y la revista. En trece trabajos publicados, la demora media es 4,8 años, la mediana es 6 y el máximo llega a 9. Por eso el working paper no es un residuo bibliográfico: puede ser el documento mediante el cual una idea circula durante casi una década.</a:t>
            </a:r>
          </a:p>
          <a:p xmlns:a="http://schemas.openxmlformats.org/drawingml/2006/main">
            <a:r>
              <a:t/>
            </a:r>
          </a:p>
          <a:p xmlns:a="http://schemas.openxmlformats.org/drawingml/2006/main">
            <a:r>
              <a:t>FUENTE: analisis_bibliometrico.ipynb, figura 03_rezago.png.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DE RESPALDO.</a:t>
            </a:r>
          </a:p>
          <a:p xmlns:a="http://schemas.openxmlformats.org/drawingml/2006/main">
            <a:r>
              <a:t/>
            </a:r>
          </a:p>
          <a:p xmlns:a="http://schemas.openxmlformats.org/drawingml/2006/main">
            <a:r>
              <a:t>USO: esta figura muestra por qué el análisis no se limita a artículos de revista. El corpus final contiene 48 documentos y combina publicaciones, working papers, discussions, un capítulo, una carta de política y un ensayo de agenda. Esa diversidad permite distinguir entre la formulación formal de una idea, su circulación temprana, su traducción a política y la manera en que Bigio clasifica retrospectivamente su propia trayectoria.</a:t>
            </a:r>
          </a:p>
          <a:p xmlns:a="http://schemas.openxmlformats.org/drawingml/2006/main">
            <a:r>
              <a:t/>
            </a:r>
          </a:p>
          <a:p xmlns:a="http://schemas.openxmlformats.org/drawingml/2006/main">
            <a:r>
              <a:t>FUENTE: analisis_bibliometrico.ipynb, figura 01_corpus.png; corpus.csv.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52228163ecf49c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bb1c5f1fc764bc8" /><Relationship Type="http://schemas.openxmlformats.org/officeDocument/2006/relationships/slideLayout" Target="/ppt/slideLayouts/slideLayout1.xml" Id="Re1bc7a4cbaf04d3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1bc7a4cbaf04d3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411cc2b45a147f3" /><Relationship Type="http://schemas.openxmlformats.org/officeDocument/2006/relationships/notesSlide" Target="/ppt/notesSlides/notesSlide1.xml" Id="R788c9f5f2b9542c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3d316813bc34d10" /><Relationship Type="http://schemas.openxmlformats.org/officeDocument/2006/relationships/image" Target="/ppt/media/image.png" Id="R8071151439b147eb" /><Relationship Type="http://schemas.openxmlformats.org/officeDocument/2006/relationships/notesSlide" Target="/ppt/notesSlides/notesSlide2.xml" Id="Rcb94c6cfa69c46b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21546c54b4646ea" /><Relationship Type="http://schemas.openxmlformats.org/officeDocument/2006/relationships/notesSlide" Target="/ppt/notesSlides/notesSlide3.xml" Id="Ra3e54cd35cda47a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34818d68ecd4dd7" /><Relationship Type="http://schemas.openxmlformats.org/officeDocument/2006/relationships/notesSlide" Target="/ppt/notesSlides/notesSlide4.xml" Id="Rad979b8db392479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78fbef8f284419d" /><Relationship Type="http://schemas.openxmlformats.org/officeDocument/2006/relationships/notesSlide" Target="/ppt/notesSlides/notesSlide5.xml" Id="Rf85994d9a843435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a7b0011d39a46cc" /><Relationship Type="http://schemas.openxmlformats.org/officeDocument/2006/relationships/image" Target="/ppt/media/image2.png" Id="Rf8d464574e264b5c" /><Relationship Type="http://schemas.openxmlformats.org/officeDocument/2006/relationships/notesSlide" Target="/ppt/notesSlides/notesSlide6.xml" Id="R4dde121dead64cd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011cd7c9e6b4cfb" /><Relationship Type="http://schemas.openxmlformats.org/officeDocument/2006/relationships/image" Target="/ppt/media/image3.png" Id="Rdff8201d02414065" /><Relationship Type="http://schemas.openxmlformats.org/officeDocument/2006/relationships/notesSlide" Target="/ppt/notesSlides/notesSlide7.xml" Id="Rc1827c854b9c41d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ffb82c0599642c3" /><Relationship Type="http://schemas.openxmlformats.org/officeDocument/2006/relationships/image" Target="/ppt/media/image4.png" Id="R953b85d8ac3c469a" /><Relationship Type="http://schemas.openxmlformats.org/officeDocument/2006/relationships/notesSlide" Target="/ppt/notesSlides/notesSlide8.xml" Id="R6e9722aefd804d64" /></Relationships>
</file>

<file path=ppt/slides/slide1.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4BB0974B-4A33-47A1-87EC-8F588C83A195}"/>
              </a:ext>
            </a:extLst>
          </p:cNvPr>
          <p:cNvSpPr>
            <a:spLocks xmlns:a="http://schemas.openxmlformats.org/drawingml/2006/main" noGrp="1"/>
          </p:cNvSpPr>
          <p:nvPr/>
        </p:nvSpPr>
        <p:spPr>
          <a:xfrm xmlns:a="http://schemas.openxmlformats.org/drawingml/2006/main">
            <a:off x="666750" y="4953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A63D40"/>
                </a:solidFill>
                <a:latin typeface="Aptos"/>
                <a:ea typeface="Aptos"/>
                <a:cs typeface="Aptos"/>
              </a:defRPr>
            </a:pPr>
            <a:r>
              <a:rPr sz="1125" b="1" i="0">
                <a:solidFill>
                  <a:srgbClr val="A63D40"/>
                </a:solidFill>
                <a:latin typeface="Aptos"/>
                <a:ea typeface="Aptos"/>
                <a:cs typeface="Aptos"/>
              </a:rPr>
              <a:t>HISTORIA DEL PENSAMIENTO ECONÓMICO</a:t>
            </a:r>
          </a:p>
        </p:txBody>
      </p:sp>
      <p:sp>
        <p:nvSpPr>
          <p:cNvPr id="2" name="">
            <a:extLst xmlns:a="http://schemas.openxmlformats.org/drawingml/2006/main">
              <a:ext uri="{FF2B5EF4-FFF2-40B4-BE49-F238E27FC236}">
                <a16:creationId xmlns:a16="http://schemas.microsoft.com/office/drawing/2014/main" id="{E3DDCE42-1C80-42D5-8DE6-7F11C0D06F99}"/>
              </a:ext>
            </a:extLst>
          </p:cNvPr>
          <p:cNvSpPr>
            <a:spLocks xmlns:a="http://schemas.openxmlformats.org/drawingml/2006/main" noGrp="1"/>
          </p:cNvSpPr>
          <p:nvPr/>
        </p:nvSpPr>
        <p:spPr>
          <a:xfrm xmlns:a="http://schemas.openxmlformats.org/drawingml/2006/main">
            <a:off x="666750" y="990600"/>
            <a:ext cx="5905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200" b="1" i="0">
                <a:solidFill>
                  <a:srgbClr val="102A43"/>
                </a:solidFill>
                <a:latin typeface="Aptos"/>
                <a:ea typeface="Aptos"/>
                <a:cs typeface="Aptos"/>
              </a:defRPr>
            </a:pPr>
            <a:r>
              <a:rPr sz="4200" b="1" i="0">
                <a:solidFill>
                  <a:srgbClr val="102A43"/>
                </a:solidFill>
                <a:latin typeface="Aptos"/>
                <a:ea typeface="Aptos"/>
                <a:cs typeface="Aptos"/>
              </a:rPr>
              <a:t>Saki Bigio</a:t>
            </a:r>
          </a:p>
        </p:txBody>
      </p:sp>
      <p:sp>
        <p:nvSpPr>
          <p:cNvPr id="3" name="">
            <a:extLst xmlns:a="http://schemas.openxmlformats.org/drawingml/2006/main">
              <a:ext uri="{FF2B5EF4-FFF2-40B4-BE49-F238E27FC236}">
                <a16:creationId xmlns:a16="http://schemas.microsoft.com/office/drawing/2014/main" id="{4A6C8C73-2EC2-4A85-978F-6F18200734E3}"/>
              </a:ext>
            </a:extLst>
          </p:cNvPr>
          <p:cNvSpPr>
            <a:spLocks xmlns:a="http://schemas.openxmlformats.org/drawingml/2006/main" noGrp="1"/>
          </p:cNvSpPr>
          <p:nvPr/>
        </p:nvSpPr>
        <p:spPr>
          <a:xfrm xmlns:a="http://schemas.openxmlformats.org/drawingml/2006/main">
            <a:off x="666750" y="1666875"/>
            <a:ext cx="7620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475" b="0" i="0">
                <a:solidFill>
                  <a:srgbClr val="17212B"/>
                </a:solidFill>
                <a:latin typeface="Aptos"/>
                <a:ea typeface="Aptos"/>
                <a:cs typeface="Aptos"/>
              </a:defRPr>
            </a:pPr>
            <a:r>
              <a:rPr sz="2475" b="0" i="0">
                <a:solidFill>
                  <a:srgbClr val="17212B"/>
                </a:solidFill>
                <a:latin typeface="Aptos"/>
                <a:ea typeface="Aptos"/>
                <a:cs typeface="Aptos"/>
              </a:rPr>
              <a:t>Política monetaria más allá de una sola tasa</a:t>
            </a:r>
          </a:p>
        </p:txBody>
      </p:sp>
      <p:sp>
        <p:nvSpPr>
          <p:cNvPr id="4" name="">
            <a:extLst xmlns:a="http://schemas.openxmlformats.org/drawingml/2006/main">
              <a:ext uri="{FF2B5EF4-FFF2-40B4-BE49-F238E27FC236}">
                <a16:creationId xmlns:a16="http://schemas.microsoft.com/office/drawing/2014/main" id="{8C72DF87-B815-43BA-9612-604523332E7B}"/>
              </a:ext>
            </a:extLst>
          </p:cNvPr>
          <p:cNvSpPr>
            <a:spLocks xmlns:a="http://schemas.openxmlformats.org/drawingml/2006/main" noGrp="1"/>
          </p:cNvSpPr>
          <p:nvPr/>
        </p:nvSpPr>
        <p:spPr>
          <a:xfrm xmlns:a="http://schemas.openxmlformats.org/drawingml/2006/main">
            <a:off x="666750" y="2800350"/>
            <a:ext cx="76200" cy="2247900"/>
          </a:xfrm>
          <a:prstGeom xmlns:a="http://schemas.openxmlformats.org/drawingml/2006/main" prst="rect">
            <a:avLst/>
          </a:prstGeom>
          <a:solidFill xmlns:a="http://schemas.openxmlformats.org/drawingml/2006/main">
            <a:srgbClr val="A63D4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7501389-48F9-4873-8B36-178801E863B5}"/>
              </a:ext>
            </a:extLst>
          </p:cNvPr>
          <p:cNvSpPr>
            <a:spLocks xmlns:a="http://schemas.openxmlformats.org/drawingml/2006/main" noGrp="1"/>
          </p:cNvSpPr>
          <p:nvPr/>
        </p:nvSpPr>
        <p:spPr>
          <a:xfrm xmlns:a="http://schemas.openxmlformats.org/drawingml/2006/main">
            <a:off x="990600" y="2847975"/>
            <a:ext cx="6896100" cy="1847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025" b="0" i="0">
                <a:solidFill>
                  <a:srgbClr val="17212B"/>
                </a:solidFill>
                <a:latin typeface="Aptos"/>
                <a:ea typeface="Aptos"/>
                <a:cs typeface="Aptos"/>
              </a:defRPr>
            </a:pPr>
            <a:r>
              <a:rPr sz="2025" b="0" i="0">
                <a:solidFill>
                  <a:srgbClr val="17212B"/>
                </a:solidFill>
                <a:latin typeface="Aptos"/>
                <a:ea typeface="Aptos"/>
                <a:cs typeface="Aptos"/>
              </a:rPr>
              <a:t>En los modelos de Bigio, la liquidez se determina endógenamente. Las fricciones de información y liquidación, los balances bancarios y la oferta de reservas condicionan el crédito y la transmisión monetaria.</a:t>
            </a:r>
          </a:p>
        </p:txBody>
      </p:sp>
      <p:sp>
        <p:nvSpPr>
          <p:cNvPr id="6" name="">
            <a:extLst xmlns:a="http://schemas.openxmlformats.org/drawingml/2006/main">
              <a:ext uri="{FF2B5EF4-FFF2-40B4-BE49-F238E27FC236}">
                <a16:creationId xmlns:a16="http://schemas.microsoft.com/office/drawing/2014/main" id="{6DE39046-E37F-47A1-AABB-B684DD18B4CC}"/>
              </a:ext>
            </a:extLst>
          </p:cNvPr>
          <p:cNvSpPr>
            <a:spLocks xmlns:a="http://schemas.openxmlformats.org/drawingml/2006/main" noGrp="1"/>
          </p:cNvSpPr>
          <p:nvPr/>
        </p:nvSpPr>
        <p:spPr>
          <a:xfrm xmlns:a="http://schemas.openxmlformats.org/drawingml/2006/main">
            <a:off x="990600" y="4772025"/>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i="0">
                <a:solidFill>
                  <a:srgbClr val="A63D40"/>
                </a:solidFill>
                <a:latin typeface="Aptos"/>
                <a:ea typeface="Aptos"/>
                <a:cs typeface="Aptos"/>
              </a:defRPr>
            </a:pPr>
            <a:r>
              <a:rPr sz="975" b="1" i="0">
                <a:solidFill>
                  <a:srgbClr val="A63D40"/>
                </a:solidFill>
                <a:latin typeface="Aptos"/>
                <a:ea typeface="Aptos"/>
                <a:cs typeface="Aptos"/>
              </a:rPr>
              <a:t>SÍNTESIS PROPIA</a:t>
            </a:r>
          </a:p>
        </p:txBody>
      </p:sp>
      <p:sp>
        <p:nvSpPr>
          <p:cNvPr id="7" name="">
            <a:extLst xmlns:a="http://schemas.openxmlformats.org/drawingml/2006/main">
              <a:ext uri="{FF2B5EF4-FFF2-40B4-BE49-F238E27FC236}">
                <a16:creationId xmlns:a16="http://schemas.microsoft.com/office/drawing/2014/main" id="{96E8C277-C1C7-4A7D-B0CF-B24776F7D595}"/>
              </a:ext>
            </a:extLst>
          </p:cNvPr>
          <p:cNvSpPr>
            <a:spLocks xmlns:a="http://schemas.openxmlformats.org/drawingml/2006/main" noGrp="1"/>
          </p:cNvSpPr>
          <p:nvPr/>
        </p:nvSpPr>
        <p:spPr>
          <a:xfrm xmlns:a="http://schemas.openxmlformats.org/drawingml/2006/main">
            <a:off x="8591550" y="1066800"/>
            <a:ext cx="2362200" cy="2362200"/>
          </a:xfrm>
          <a:prstGeom xmlns:a="http://schemas.openxmlformats.org/drawingml/2006/main" prst="ellipse">
            <a:avLst/>
          </a:prstGeom>
          <a:solidFill xmlns:a="http://schemas.openxmlformats.org/drawingml/2006/main">
            <a:srgbClr val="102A43"/>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4EA25B3-DE2B-4BAB-B227-64193A6D50C2}"/>
              </a:ext>
            </a:extLst>
          </p:cNvPr>
          <p:cNvSpPr>
            <a:spLocks xmlns:a="http://schemas.openxmlformats.org/drawingml/2006/main" noGrp="1"/>
          </p:cNvSpPr>
          <p:nvPr/>
        </p:nvSpPr>
        <p:spPr>
          <a:xfrm xmlns:a="http://schemas.openxmlformats.org/drawingml/2006/main">
            <a:off x="8915400" y="1685925"/>
            <a:ext cx="1714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400" b="1" i="0">
                <a:solidFill>
                  <a:srgbClr val="FFFFFF"/>
                </a:solidFill>
                <a:latin typeface="Aptos"/>
                <a:ea typeface="Aptos"/>
                <a:cs typeface="Aptos"/>
              </a:defRPr>
            </a:pPr>
            <a:r>
              <a:rPr sz="2400" b="1" i="0">
                <a:solidFill>
                  <a:srgbClr val="FFFFFF"/>
                </a:solidFill>
                <a:latin typeface="Aptos"/>
                <a:ea typeface="Aptos"/>
                <a:cs typeface="Aptos"/>
              </a:rPr>
              <a:t>1 tasa</a:t>
            </a:r>
          </a:p>
        </p:txBody>
      </p:sp>
      <p:sp>
        <p:nvSpPr>
          <p:cNvPr id="9" name="">
            <a:extLst xmlns:a="http://schemas.openxmlformats.org/drawingml/2006/main">
              <a:ext uri="{FF2B5EF4-FFF2-40B4-BE49-F238E27FC236}">
                <a16:creationId xmlns:a16="http://schemas.microsoft.com/office/drawing/2014/main" id="{65715E32-4633-460A-B080-427C8F7A171E}"/>
              </a:ext>
            </a:extLst>
          </p:cNvPr>
          <p:cNvSpPr>
            <a:spLocks xmlns:a="http://schemas.openxmlformats.org/drawingml/2006/main" noGrp="1"/>
          </p:cNvSpPr>
          <p:nvPr/>
        </p:nvSpPr>
        <p:spPr>
          <a:xfrm xmlns:a="http://schemas.openxmlformats.org/drawingml/2006/main">
            <a:off x="8915400" y="2266950"/>
            <a:ext cx="1714500" cy="9525"/>
          </a:xfrm>
          <a:prstGeom xmlns:a="http://schemas.openxmlformats.org/drawingml/2006/main" prst="line">
            <a:avLst/>
          </a:prstGeom>
          <a:noFill xmlns:a="http://schemas.openxmlformats.org/drawingml/2006/main"/>
          <a:ln xmlns:a="http://schemas.openxmlformats.org/drawingml/2006/main" w="19050">
            <a:solidFill>
              <a:srgbClr val="FFFFFF"/>
            </a:solidFill>
            <a:prstDash val="solid"/>
          </a:ln>
        </p:spPr>
      </p:sp>
      <p:sp>
        <p:nvSpPr>
          <p:cNvPr id="10" name="">
            <a:extLst xmlns:a="http://schemas.openxmlformats.org/drawingml/2006/main">
              <a:ext uri="{FF2B5EF4-FFF2-40B4-BE49-F238E27FC236}">
                <a16:creationId xmlns:a16="http://schemas.microsoft.com/office/drawing/2014/main" id="{285C57E7-539E-4ECC-AD84-EBDE8443A7DD}"/>
              </a:ext>
            </a:extLst>
          </p:cNvPr>
          <p:cNvSpPr>
            <a:spLocks xmlns:a="http://schemas.openxmlformats.org/drawingml/2006/main" noGrp="1"/>
          </p:cNvSpPr>
          <p:nvPr/>
        </p:nvSpPr>
        <p:spPr>
          <a:xfrm xmlns:a="http://schemas.openxmlformats.org/drawingml/2006/main">
            <a:off x="8820150" y="2447925"/>
            <a:ext cx="18859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725" b="0" i="0">
                <a:solidFill>
                  <a:srgbClr val="FFFFFF"/>
                </a:solidFill>
                <a:latin typeface="Aptos"/>
                <a:ea typeface="Aptos"/>
                <a:cs typeface="Aptos"/>
              </a:defRPr>
            </a:pPr>
            <a:r>
              <a:rPr sz="1725" b="0" i="0">
                <a:solidFill>
                  <a:srgbClr val="FFFFFF"/>
                </a:solidFill>
                <a:latin typeface="Aptos"/>
                <a:ea typeface="Aptos"/>
                <a:cs typeface="Aptos"/>
              </a:rPr>
              <a:t>muchos balances</a:t>
            </a:r>
          </a:p>
          <a:p xmlns:a="http://schemas.openxmlformats.org/drawingml/2006/main">
            <a:pPr algn="ctr">
              <a:defRPr sz="1725" b="0" i="0">
                <a:solidFill>
                  <a:srgbClr val="FFFFFF"/>
                </a:solidFill>
                <a:latin typeface="Aptos"/>
                <a:ea typeface="Aptos"/>
                <a:cs typeface="Aptos"/>
              </a:defRPr>
            </a:pPr>
            <a:r>
              <a:rPr sz="1725" b="0" i="0">
                <a:solidFill>
                  <a:srgbClr val="FFFFFF"/>
                </a:solidFill>
                <a:latin typeface="Aptos"/>
                <a:ea typeface="Aptos"/>
                <a:cs typeface="Aptos"/>
              </a:rPr>
              <a:t>y muchas tasas</a:t>
            </a:r>
          </a:p>
        </p:txBody>
      </p:sp>
      <p:sp>
        <p:nvSpPr>
          <p:cNvPr id="11" name="">
            <a:extLst xmlns:a="http://schemas.openxmlformats.org/drawingml/2006/main">
              <a:ext uri="{FF2B5EF4-FFF2-40B4-BE49-F238E27FC236}">
                <a16:creationId xmlns:a16="http://schemas.microsoft.com/office/drawing/2014/main" id="{8B4AAC17-1CCD-4310-A624-94FEACC1955D}"/>
              </a:ext>
            </a:extLst>
          </p:cNvPr>
          <p:cNvSpPr>
            <a:spLocks xmlns:a="http://schemas.openxmlformats.org/drawingml/2006/main" noGrp="1"/>
          </p:cNvSpPr>
          <p:nvPr/>
        </p:nvSpPr>
        <p:spPr>
          <a:xfrm xmlns:a="http://schemas.openxmlformats.org/drawingml/2006/main">
            <a:off x="8153400" y="4010025"/>
            <a:ext cx="3143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0" i="1">
                <a:solidFill>
                  <a:srgbClr val="A63D40"/>
                </a:solidFill>
                <a:latin typeface="Aptos"/>
                <a:ea typeface="Aptos"/>
                <a:cs typeface="Aptos"/>
              </a:defRPr>
            </a:pPr>
            <a:r>
              <a:rPr sz="1575" b="0" i="1">
                <a:solidFill>
                  <a:srgbClr val="A63D40"/>
                </a:solidFill>
                <a:latin typeface="Aptos"/>
                <a:ea typeface="Aptos"/>
                <a:cs typeface="Aptos"/>
              </a:rPr>
              <a:t>“Hay muchas tasas de interés, y no solo una como en el modelo neokeynesiano.”</a:t>
            </a:r>
          </a:p>
        </p:txBody>
      </p:sp>
      <p:sp>
        <p:nvSpPr>
          <p:cNvPr id="12" name="">
            <a:extLst xmlns:a="http://schemas.openxmlformats.org/drawingml/2006/main">
              <a:ext uri="{FF2B5EF4-FFF2-40B4-BE49-F238E27FC236}">
                <a16:creationId xmlns:a16="http://schemas.microsoft.com/office/drawing/2014/main" id="{C25BE59B-2CBB-42ED-9D27-68662DDEB93D}"/>
              </a:ext>
            </a:extLst>
          </p:cNvPr>
          <p:cNvSpPr>
            <a:spLocks xmlns:a="http://schemas.openxmlformats.org/drawingml/2006/main" noGrp="1"/>
          </p:cNvSpPr>
          <p:nvPr/>
        </p:nvSpPr>
        <p:spPr>
          <a:xfrm xmlns:a="http://schemas.openxmlformats.org/drawingml/2006/main">
            <a:off x="8877300" y="4905375"/>
            <a:ext cx="1695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0" i="0">
                <a:solidFill>
                  <a:srgbClr val="65717D"/>
                </a:solidFill>
                <a:latin typeface="Aptos"/>
                <a:ea typeface="Aptos"/>
                <a:cs typeface="Aptos"/>
              </a:defRPr>
            </a:pPr>
            <a:r>
              <a:rPr sz="975" b="0" i="0">
                <a:solidFill>
                  <a:srgbClr val="65717D"/>
                </a:solidFill>
                <a:latin typeface="Aptos"/>
                <a:ea typeface="Aptos"/>
                <a:cs typeface="Aptos"/>
              </a:rPr>
              <a:t>Bigio (2022: 372)</a:t>
            </a:r>
          </a:p>
        </p:txBody>
      </p:sp>
      <p:sp>
        <p:nvSpPr>
          <p:cNvPr id="13" name="">
            <a:extLst xmlns:a="http://schemas.openxmlformats.org/drawingml/2006/main">
              <a:ext uri="{FF2B5EF4-FFF2-40B4-BE49-F238E27FC236}">
                <a16:creationId xmlns:a16="http://schemas.microsoft.com/office/drawing/2014/main" id="{95C1C43A-EBBF-46EB-968B-C1AC72FFD6B1}"/>
              </a:ext>
            </a:extLst>
          </p:cNvPr>
          <p:cNvSpPr>
            <a:spLocks xmlns:a="http://schemas.openxmlformats.org/drawingml/2006/main" noGrp="1"/>
          </p:cNvSpPr>
          <p:nvPr/>
        </p:nvSpPr>
        <p:spPr>
          <a:xfrm xmlns:a="http://schemas.openxmlformats.org/drawingml/2006/main">
            <a:off x="666750" y="56483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1F6875"/>
                </a:solidFill>
                <a:latin typeface="Aptos"/>
                <a:ea typeface="Aptos"/>
                <a:cs typeface="Aptos"/>
              </a:defRPr>
            </a:pPr>
            <a:r>
              <a:rPr sz="1350" b="1" i="0">
                <a:solidFill>
                  <a:srgbClr val="1F6875"/>
                </a:solidFill>
                <a:latin typeface="Aptos"/>
                <a:ea typeface="Aptos"/>
                <a:cs typeface="Aptos"/>
              </a:rPr>
              <a:t>P3 · ideas fundamentales    P4 · documentos que las presentan</a:t>
            </a:r>
          </a:p>
        </p:txBody>
      </p:sp>
      <p:sp>
        <p:nvSpPr>
          <p:cNvPr id="14" name="">
            <a:extLst xmlns:a="http://schemas.openxmlformats.org/drawingml/2006/main">
              <a:ext uri="{FF2B5EF4-FFF2-40B4-BE49-F238E27FC236}">
                <a16:creationId xmlns:a16="http://schemas.microsoft.com/office/drawing/2014/main" id="{3FD99393-B106-43E4-84A9-96218AE89B66}"/>
              </a:ext>
            </a:extLst>
          </p:cNvPr>
          <p:cNvSpPr>
            <a:spLocks xmlns:a="http://schemas.openxmlformats.org/drawingml/2006/main" noGrp="1"/>
          </p:cNvSpPr>
          <p:nvPr/>
        </p:nvSpPr>
        <p:spPr>
          <a:xfrm xmlns:a="http://schemas.openxmlformats.org/drawingml/2006/main">
            <a:off x="666750" y="601980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i="0">
                <a:solidFill>
                  <a:srgbClr val="65717D"/>
                </a:solidFill>
                <a:latin typeface="Aptos"/>
                <a:ea typeface="Aptos"/>
                <a:cs typeface="Aptos"/>
              </a:defRPr>
            </a:pPr>
            <a:r>
              <a:rPr sz="1125" b="0" i="0">
                <a:solidFill>
                  <a:srgbClr val="65717D"/>
                </a:solidFill>
                <a:latin typeface="Aptos"/>
                <a:ea typeface="Aptos"/>
                <a:cs typeface="Aptos"/>
              </a:rPr>
              <a:t>Alejandro Ventura · Universidad del Pacífico</a:t>
            </a:r>
          </a:p>
        </p:txBody>
      </p:sp>
      <p:sp>
        <p:nvSpPr>
          <p:cNvPr id="15" name="">
            <a:extLst xmlns:a="http://schemas.openxmlformats.org/drawingml/2006/main">
              <a:ext uri="{FF2B5EF4-FFF2-40B4-BE49-F238E27FC236}">
                <a16:creationId xmlns:a16="http://schemas.microsoft.com/office/drawing/2014/main" id="{0602A7AA-0233-4264-8288-8276589450BB}"/>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line">
            <a:avLst/>
          </a:prstGeom>
          <a:noFill xmlns:a="http://schemas.openxmlformats.org/drawingml/2006/main"/>
          <a:ln xmlns:a="http://schemas.openxmlformats.org/drawingml/2006/main" w="9525">
            <a:solidFill>
              <a:srgbClr val="E8DED0"/>
            </a:solidFill>
            <a:prstDash val="solid"/>
          </a:ln>
        </p:spPr>
      </p:sp>
      <p:sp>
        <p:nvSpPr>
          <p:cNvPr id="16" name="">
            <a:extLst xmlns:a="http://schemas.openxmlformats.org/drawingml/2006/main">
              <a:ext uri="{FF2B5EF4-FFF2-40B4-BE49-F238E27FC236}">
                <a16:creationId xmlns:a16="http://schemas.microsoft.com/office/drawing/2014/main" id="{01A56013-792E-4547-9EF6-92F32A06B691}"/>
              </a:ext>
            </a:extLst>
          </p:cNvPr>
          <p:cNvSpPr>
            <a:spLocks xmlns:a="http://schemas.openxmlformats.org/drawingml/2006/main" noGrp="1"/>
          </p:cNvSpPr>
          <p:nvPr/>
        </p:nvSpPr>
        <p:spPr>
          <a:xfrm xmlns:a="http://schemas.openxmlformats.org/drawingml/2006/main">
            <a:off x="609600" y="6486525"/>
            <a:ext cx="1076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88" b="0" i="0">
                <a:solidFill>
                  <a:srgbClr val="65717D"/>
                </a:solidFill>
                <a:latin typeface="Aptos"/>
                <a:ea typeface="Aptos"/>
                <a:cs typeface="Aptos"/>
              </a:defRPr>
            </a:pPr>
            <a:r>
              <a:rPr sz="788" b="0" i="0">
                <a:solidFill>
                  <a:srgbClr val="65717D"/>
                </a:solidFill>
                <a:latin typeface="Aptos"/>
                <a:ea typeface="Aptos"/>
                <a:cs typeface="Aptos"/>
              </a:rPr>
              <a:t>Síntesis a partir de Bigio (2015: 1), Bianchi y Bigio (2022 [2013]: 1) y Bigio (2022: 372).</a:t>
            </a:r>
          </a:p>
        </p:txBody>
      </p:sp>
    </p:spTree>
    <p:extLst>
      <p:ext uri="{BB962C8B-B14F-4D97-AF65-F5344CB8AC3E}">
        <p14:creationId xmlns:p14="http://schemas.microsoft.com/office/powerpoint/2010/main" val="80482853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AB7BDF2F-E3EB-4E8E-913A-E284C3582B4D}"/>
              </a:ext>
            </a:extLst>
          </p:cNvPr>
          <p:cNvSpPr>
            <a:spLocks xmlns:a="http://schemas.openxmlformats.org/drawingml/2006/main" noGrp="1"/>
          </p:cNvSpPr>
          <p:nvPr/>
        </p:nvSpPr>
        <p:spPr>
          <a:xfrm xmlns:a="http://schemas.openxmlformats.org/drawingml/2006/main">
            <a:off x="609600" y="323850"/>
            <a:ext cx="514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A63D40"/>
                </a:solidFill>
                <a:latin typeface="Aptos"/>
                <a:ea typeface="Aptos"/>
                <a:cs typeface="Aptos"/>
              </a:defRPr>
            </a:pPr>
            <a:r>
              <a:rPr sz="1050" b="1" i="0">
                <a:solidFill>
                  <a:srgbClr val="A63D40"/>
                </a:solidFill>
                <a:latin typeface="Aptos"/>
                <a:ea typeface="Aptos"/>
                <a:cs typeface="Aptos"/>
              </a:rPr>
              <a:t>EVIDENCIA DEL NOTEBOOK</a:t>
            </a:r>
          </a:p>
        </p:txBody>
      </p:sp>
      <p:sp>
        <p:nvSpPr>
          <p:cNvPr id="2" name="">
            <a:extLst xmlns:a="http://schemas.openxmlformats.org/drawingml/2006/main">
              <a:ext uri="{FF2B5EF4-FFF2-40B4-BE49-F238E27FC236}">
                <a16:creationId xmlns:a16="http://schemas.microsoft.com/office/drawing/2014/main" id="{FCEE8F51-3511-40ED-90CC-EDA99576CA13}"/>
              </a:ext>
            </a:extLst>
          </p:cNvPr>
          <p:cNvSpPr>
            <a:spLocks xmlns:a="http://schemas.openxmlformats.org/drawingml/2006/main" noGrp="1"/>
          </p:cNvSpPr>
          <p:nvPr/>
        </p:nvSpPr>
        <p:spPr>
          <a:xfrm xmlns:a="http://schemas.openxmlformats.org/drawingml/2006/main">
            <a:off x="609600" y="600075"/>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00" b="1" i="0">
                <a:solidFill>
                  <a:srgbClr val="102A43"/>
                </a:solidFill>
                <a:latin typeface="Aptos"/>
                <a:ea typeface="Aptos"/>
                <a:cs typeface="Aptos"/>
              </a:defRPr>
            </a:pPr>
            <a:r>
              <a:rPr sz="3000" b="1" i="0">
                <a:solidFill>
                  <a:srgbClr val="102A43"/>
                </a:solidFill>
                <a:latin typeface="Aptos"/>
                <a:ea typeface="Aptos"/>
                <a:cs typeface="Aptos"/>
              </a:rPr>
              <a:t>El corpus muestra un eje persistente de banca, liquidez y política</a:t>
            </a:r>
          </a:p>
        </p:txBody>
      </p:sp>
      <p:sp>
        <p:nvSpPr>
          <p:cNvPr id="3" name="">
            <a:extLst xmlns:a="http://schemas.openxmlformats.org/drawingml/2006/main">
              <a:ext uri="{FF2B5EF4-FFF2-40B4-BE49-F238E27FC236}">
                <a16:creationId xmlns:a16="http://schemas.microsoft.com/office/drawing/2014/main" id="{5CFC719C-78DA-45BC-8142-00A922FAF47F}"/>
              </a:ext>
            </a:extLst>
          </p:cNvPr>
          <p:cNvSpPr>
            <a:spLocks xmlns:a="http://schemas.openxmlformats.org/drawingml/2006/main" noGrp="1"/>
          </p:cNvSpPr>
          <p:nvPr/>
        </p:nvSpPr>
        <p:spPr>
          <a:xfrm xmlns:a="http://schemas.openxmlformats.org/drawingml/2006/main">
            <a:off x="609600" y="1209675"/>
            <a:ext cx="10972800" cy="9525"/>
          </a:xfrm>
          <a:prstGeom xmlns:a="http://schemas.openxmlformats.org/drawingml/2006/main" prst="line">
            <a:avLst/>
          </a:prstGeom>
          <a:noFill xmlns:a="http://schemas.openxmlformats.org/drawingml/2006/main"/>
          <a:ln xmlns:a="http://schemas.openxmlformats.org/drawingml/2006/main" w="19050">
            <a:solidFill>
              <a:srgbClr val="E8DED0"/>
            </a:solidFill>
            <a:prstDash val="solid"/>
          </a:ln>
        </p:spPr>
      </p:sp>
      <p:sp>
        <p:nvSpPr>
          <p:cNvPr id="4" name="">
            <a:extLst xmlns:a="http://schemas.openxmlformats.org/drawingml/2006/main">
              <a:ext uri="{FF2B5EF4-FFF2-40B4-BE49-F238E27FC236}">
                <a16:creationId xmlns:a16="http://schemas.microsoft.com/office/drawing/2014/main" id="{98DCBB31-87FF-489A-96AF-F7AC0AE38741}"/>
              </a:ext>
            </a:extLst>
          </p:cNvPr>
          <p:cNvSpPr>
            <a:spLocks xmlns:a="http://schemas.openxmlformats.org/drawingml/2006/main" noGrp="1"/>
          </p:cNvSpPr>
          <p:nvPr/>
        </p:nvSpPr>
        <p:spPr>
          <a:xfrm xmlns:a="http://schemas.openxmlformats.org/drawingml/2006/main">
            <a:off x="11144250" y="32385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i="0">
                <a:solidFill>
                  <a:srgbClr val="65717D"/>
                </a:solidFill>
                <a:latin typeface="Aptos"/>
                <a:ea typeface="Aptos"/>
                <a:cs typeface="Aptos"/>
              </a:defRPr>
            </a:pPr>
            <a:r>
              <a:rPr sz="1125" b="1" i="0">
                <a:solidFill>
                  <a:srgbClr val="65717D"/>
                </a:solidFill>
                <a:latin typeface="Aptos"/>
                <a:ea typeface="Aptos"/>
                <a:cs typeface="Aptos"/>
              </a:rPr>
              <a:t>02</a:t>
            </a:r>
          </a:p>
        </p:txBody>
      </p:sp>
      <p:sp>
        <p:nvSpPr>
          <p:cNvPr id="5" name="">
            <a:extLst xmlns:a="http://schemas.openxmlformats.org/drawingml/2006/main">
              <a:ext uri="{FF2B5EF4-FFF2-40B4-BE49-F238E27FC236}">
                <a16:creationId xmlns:a16="http://schemas.microsoft.com/office/drawing/2014/main" id="{136E7A60-5945-4D37-9AD1-73ED893E066B}"/>
              </a:ext>
            </a:extLst>
          </p:cNvPr>
          <p:cNvSpPr>
            <a:spLocks xmlns:a="http://schemas.openxmlformats.org/drawingml/2006/main" noGrp="1"/>
          </p:cNvSpPr>
          <p:nvPr/>
        </p:nvSpPr>
        <p:spPr>
          <a:xfrm xmlns:a="http://schemas.openxmlformats.org/drawingml/2006/main">
            <a:off x="609600" y="1362075"/>
            <a:ext cx="10972800" cy="3324225"/>
          </a:xfrm>
          <a:prstGeom xmlns:a="http://schemas.openxmlformats.org/drawingml/2006/main" prst="roundRect">
            <a:avLst>
              <a:gd name="adj" fmla="val 3438"/>
            </a:avLst>
          </a:prstGeom>
          <a:solidFill xmlns:a="http://schemas.openxmlformats.org/drawingml/2006/main">
            <a:srgbClr val="FFFFFF"/>
          </a:solidFill>
          <a:ln xmlns:a="http://schemas.openxmlformats.org/drawingml/2006/main" w="9525">
            <a:solidFill>
              <a:srgbClr val="E8DED0"/>
            </a:solidFill>
            <a:prstDash val="solid"/>
          </a:ln>
        </p:spPr>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8071151439b147eb"/>
          <a:stretch xmlns:a="http://schemas.openxmlformats.org/drawingml/2006/main"/>
        </p:blipFill>
        <p:spPr>
          <a:xfrm xmlns:a="http://schemas.openxmlformats.org/drawingml/2006/main">
            <a:off x="690143" y="1438275"/>
            <a:ext cx="10811714" cy="31718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0F942206-2086-4641-9F00-EEC0D90038B9}"/>
              </a:ext>
            </a:extLst>
          </p:cNvPr>
          <p:cNvSpPr>
            <a:spLocks xmlns:a="http://schemas.openxmlformats.org/drawingml/2006/main" noGrp="1"/>
          </p:cNvSpPr>
          <p:nvPr/>
        </p:nvSpPr>
        <p:spPr>
          <a:xfrm xmlns:a="http://schemas.openxmlformats.org/drawingml/2006/main">
            <a:off x="685800" y="4886325"/>
            <a:ext cx="3371850" cy="790575"/>
          </a:xfrm>
          <a:prstGeom xmlns:a="http://schemas.openxmlformats.org/drawingml/2006/main" prst="roundRect">
            <a:avLst>
              <a:gd name="adj" fmla="val 14458"/>
            </a:avLst>
          </a:prstGeom>
          <a:solidFill xmlns:a="http://schemas.openxmlformats.org/drawingml/2006/main">
            <a:srgbClr val="F1E6D6"/>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E8AB575-8536-43C6-8009-869A20470E17}"/>
              </a:ext>
            </a:extLst>
          </p:cNvPr>
          <p:cNvSpPr>
            <a:spLocks xmlns:a="http://schemas.openxmlformats.org/drawingml/2006/main" noGrp="1"/>
          </p:cNvSpPr>
          <p:nvPr/>
        </p:nvSpPr>
        <p:spPr>
          <a:xfrm xmlns:a="http://schemas.openxmlformats.org/drawingml/2006/main">
            <a:off x="838200" y="5019675"/>
            <a:ext cx="1000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i="0">
                <a:solidFill>
                  <a:srgbClr val="B46A12"/>
                </a:solidFill>
                <a:latin typeface="Aptos"/>
                <a:ea typeface="Aptos"/>
                <a:cs typeface="Aptos"/>
              </a:defRPr>
            </a:pPr>
            <a:r>
              <a:rPr sz="1200" b="1" i="0">
                <a:solidFill>
                  <a:srgbClr val="B46A12"/>
                </a:solidFill>
                <a:latin typeface="Aptos"/>
                <a:ea typeface="Aptos"/>
                <a:cs typeface="Aptos"/>
              </a:rPr>
              <a:t>2006–2013</a:t>
            </a:r>
          </a:p>
        </p:txBody>
      </p:sp>
      <p:sp>
        <p:nvSpPr>
          <p:cNvPr id="9" name="">
            <a:extLst xmlns:a="http://schemas.openxmlformats.org/drawingml/2006/main">
              <a:ext uri="{FF2B5EF4-FFF2-40B4-BE49-F238E27FC236}">
                <a16:creationId xmlns:a16="http://schemas.microsoft.com/office/drawing/2014/main" id="{9DF466A7-6FC6-44E1-9ED5-C3AEEBF1B914}"/>
              </a:ext>
            </a:extLst>
          </p:cNvPr>
          <p:cNvSpPr>
            <a:spLocks xmlns:a="http://schemas.openxmlformats.org/drawingml/2006/main" noGrp="1"/>
          </p:cNvSpPr>
          <p:nvPr/>
        </p:nvSpPr>
        <p:spPr>
          <a:xfrm xmlns:a="http://schemas.openxmlformats.org/drawingml/2006/main">
            <a:off x="838200" y="5286375"/>
            <a:ext cx="3067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17212B"/>
                </a:solidFill>
                <a:latin typeface="Aptos"/>
                <a:ea typeface="Aptos"/>
                <a:cs typeface="Aptos"/>
              </a:defRPr>
            </a:pPr>
            <a:r>
              <a:rPr sz="1350" b="1" i="0">
                <a:solidFill>
                  <a:srgbClr val="17212B"/>
                </a:solidFill>
                <a:latin typeface="Aptos"/>
                <a:ea typeface="Aptos"/>
                <a:cs typeface="Aptos"/>
              </a:rPr>
              <a:t>Perú, liquidez bancaria y ciclo</a:t>
            </a:r>
          </a:p>
        </p:txBody>
      </p:sp>
      <p:sp>
        <p:nvSpPr>
          <p:cNvPr id="10" name="">
            <a:extLst xmlns:a="http://schemas.openxmlformats.org/drawingml/2006/main">
              <a:ext uri="{FF2B5EF4-FFF2-40B4-BE49-F238E27FC236}">
                <a16:creationId xmlns:a16="http://schemas.microsoft.com/office/drawing/2014/main" id="{7392F90F-841D-4AC7-A6E6-2539BFCE26AA}"/>
              </a:ext>
            </a:extLst>
          </p:cNvPr>
          <p:cNvSpPr>
            <a:spLocks xmlns:a="http://schemas.openxmlformats.org/drawingml/2006/main" noGrp="1"/>
          </p:cNvSpPr>
          <p:nvPr/>
        </p:nvSpPr>
        <p:spPr>
          <a:xfrm xmlns:a="http://schemas.openxmlformats.org/drawingml/2006/main">
            <a:off x="4410075" y="4886325"/>
            <a:ext cx="3371850" cy="790575"/>
          </a:xfrm>
          <a:prstGeom xmlns:a="http://schemas.openxmlformats.org/drawingml/2006/main" prst="roundRect">
            <a:avLst>
              <a:gd name="adj" fmla="val 14458"/>
            </a:avLst>
          </a:prstGeom>
          <a:solidFill xmlns:a="http://schemas.openxmlformats.org/drawingml/2006/main">
            <a:srgbClr val="F0DFDE"/>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FA281BD-5B2E-4B4B-B763-66E33B9ECC87}"/>
              </a:ext>
            </a:extLst>
          </p:cNvPr>
          <p:cNvSpPr>
            <a:spLocks xmlns:a="http://schemas.openxmlformats.org/drawingml/2006/main" noGrp="1"/>
          </p:cNvSpPr>
          <p:nvPr/>
        </p:nvSpPr>
        <p:spPr>
          <a:xfrm xmlns:a="http://schemas.openxmlformats.org/drawingml/2006/main">
            <a:off x="4562475" y="5019675"/>
            <a:ext cx="1000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i="0">
                <a:solidFill>
                  <a:srgbClr val="A63D40"/>
                </a:solidFill>
                <a:latin typeface="Aptos"/>
                <a:ea typeface="Aptos"/>
                <a:cs typeface="Aptos"/>
              </a:defRPr>
            </a:pPr>
            <a:r>
              <a:rPr sz="1200" b="1" i="0">
                <a:solidFill>
                  <a:srgbClr val="A63D40"/>
                </a:solidFill>
                <a:latin typeface="Aptos"/>
                <a:ea typeface="Aptos"/>
                <a:cs typeface="Aptos"/>
              </a:rPr>
              <a:t>2014–2019</a:t>
            </a:r>
          </a:p>
        </p:txBody>
      </p:sp>
      <p:sp>
        <p:nvSpPr>
          <p:cNvPr id="12" name="">
            <a:extLst xmlns:a="http://schemas.openxmlformats.org/drawingml/2006/main">
              <a:ext uri="{FF2B5EF4-FFF2-40B4-BE49-F238E27FC236}">
                <a16:creationId xmlns:a16="http://schemas.microsoft.com/office/drawing/2014/main" id="{93C39DE2-2728-4BE3-94B7-165F3B4A35A5}"/>
              </a:ext>
            </a:extLst>
          </p:cNvPr>
          <p:cNvSpPr>
            <a:spLocks xmlns:a="http://schemas.openxmlformats.org/drawingml/2006/main" noGrp="1"/>
          </p:cNvSpPr>
          <p:nvPr/>
        </p:nvSpPr>
        <p:spPr>
          <a:xfrm xmlns:a="http://schemas.openxmlformats.org/drawingml/2006/main">
            <a:off x="4562475" y="5286375"/>
            <a:ext cx="3067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17212B"/>
                </a:solidFill>
                <a:latin typeface="Aptos"/>
                <a:ea typeface="Aptos"/>
                <a:cs typeface="Aptos"/>
              </a:defRPr>
            </a:pPr>
            <a:r>
              <a:rPr sz="1350" b="1" i="0">
                <a:solidFill>
                  <a:srgbClr val="17212B"/>
                </a:solidFill>
                <a:latin typeface="Aptos"/>
                <a:ea typeface="Aptos"/>
                <a:cs typeface="Aptos"/>
              </a:rPr>
              <a:t>Liquidez privada y precios de activos</a:t>
            </a:r>
          </a:p>
        </p:txBody>
      </p:sp>
      <p:sp>
        <p:nvSpPr>
          <p:cNvPr id="13" name="">
            <a:extLst xmlns:a="http://schemas.openxmlformats.org/drawingml/2006/main">
              <a:ext uri="{FF2B5EF4-FFF2-40B4-BE49-F238E27FC236}">
                <a16:creationId xmlns:a16="http://schemas.microsoft.com/office/drawing/2014/main" id="{ADBEA3CD-5DA4-4E38-BAFA-C71D04A02B39}"/>
              </a:ext>
            </a:extLst>
          </p:cNvPr>
          <p:cNvSpPr>
            <a:spLocks xmlns:a="http://schemas.openxmlformats.org/drawingml/2006/main" noGrp="1"/>
          </p:cNvSpPr>
          <p:nvPr/>
        </p:nvSpPr>
        <p:spPr>
          <a:xfrm xmlns:a="http://schemas.openxmlformats.org/drawingml/2006/main">
            <a:off x="8134350" y="4886325"/>
            <a:ext cx="3371850" cy="790575"/>
          </a:xfrm>
          <a:prstGeom xmlns:a="http://schemas.openxmlformats.org/drawingml/2006/main" prst="roundRect">
            <a:avLst>
              <a:gd name="adj" fmla="val 14458"/>
            </a:avLst>
          </a:prstGeom>
          <a:solidFill xmlns:a="http://schemas.openxmlformats.org/drawingml/2006/main">
            <a:srgbClr val="DCEAEC"/>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B001055-D467-4853-8D50-ECBC17D711B7}"/>
              </a:ext>
            </a:extLst>
          </p:cNvPr>
          <p:cNvSpPr>
            <a:spLocks xmlns:a="http://schemas.openxmlformats.org/drawingml/2006/main" noGrp="1"/>
          </p:cNvSpPr>
          <p:nvPr/>
        </p:nvSpPr>
        <p:spPr>
          <a:xfrm xmlns:a="http://schemas.openxmlformats.org/drawingml/2006/main">
            <a:off x="8286750" y="5019675"/>
            <a:ext cx="1000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i="0">
                <a:solidFill>
                  <a:srgbClr val="1F6875"/>
                </a:solidFill>
                <a:latin typeface="Aptos"/>
                <a:ea typeface="Aptos"/>
                <a:cs typeface="Aptos"/>
              </a:defRPr>
            </a:pPr>
            <a:r>
              <a:rPr sz="1200" b="1" i="0">
                <a:solidFill>
                  <a:srgbClr val="1F6875"/>
                </a:solidFill>
                <a:latin typeface="Aptos"/>
                <a:ea typeface="Aptos"/>
                <a:cs typeface="Aptos"/>
              </a:rPr>
              <a:t>2020–2026</a:t>
            </a:r>
          </a:p>
        </p:txBody>
      </p:sp>
      <p:sp>
        <p:nvSpPr>
          <p:cNvPr id="15" name="">
            <a:extLst xmlns:a="http://schemas.openxmlformats.org/drawingml/2006/main">
              <a:ext uri="{FF2B5EF4-FFF2-40B4-BE49-F238E27FC236}">
                <a16:creationId xmlns:a16="http://schemas.microsoft.com/office/drawing/2014/main" id="{0F63CB58-7813-4102-8F8B-B5A6E87A9F4F}"/>
              </a:ext>
            </a:extLst>
          </p:cNvPr>
          <p:cNvSpPr>
            <a:spLocks xmlns:a="http://schemas.openxmlformats.org/drawingml/2006/main" noGrp="1"/>
          </p:cNvSpPr>
          <p:nvPr/>
        </p:nvSpPr>
        <p:spPr>
          <a:xfrm xmlns:a="http://schemas.openxmlformats.org/drawingml/2006/main">
            <a:off x="8286750" y="5286375"/>
            <a:ext cx="3067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17212B"/>
                </a:solidFill>
                <a:latin typeface="Aptos"/>
                <a:ea typeface="Aptos"/>
                <a:cs typeface="Aptos"/>
              </a:defRPr>
            </a:pPr>
            <a:r>
              <a:rPr sz="1350" b="1" i="0">
                <a:solidFill>
                  <a:srgbClr val="17212B"/>
                </a:solidFill>
                <a:latin typeface="Aptos"/>
                <a:ea typeface="Aptos"/>
                <a:cs typeface="Aptos"/>
              </a:rPr>
              <a:t>Banca, política monetaria y balances</a:t>
            </a:r>
          </a:p>
        </p:txBody>
      </p:sp>
      <p:sp>
        <p:nvSpPr>
          <p:cNvPr id="16" name="">
            <a:extLst xmlns:a="http://schemas.openxmlformats.org/drawingml/2006/main">
              <a:ext uri="{FF2B5EF4-FFF2-40B4-BE49-F238E27FC236}">
                <a16:creationId xmlns:a16="http://schemas.microsoft.com/office/drawing/2014/main" id="{D24CA35E-BF96-44F1-85BB-9BA1E4A728D7}"/>
              </a:ext>
            </a:extLst>
          </p:cNvPr>
          <p:cNvSpPr>
            <a:spLocks xmlns:a="http://schemas.openxmlformats.org/drawingml/2006/main" noGrp="1"/>
          </p:cNvSpPr>
          <p:nvPr/>
        </p:nvSpPr>
        <p:spPr>
          <a:xfrm xmlns:a="http://schemas.openxmlformats.org/drawingml/2006/main">
            <a:off x="685800" y="5924550"/>
            <a:ext cx="10820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0" i="1">
                <a:solidFill>
                  <a:srgbClr val="65717D"/>
                </a:solidFill>
                <a:latin typeface="Aptos"/>
                <a:ea typeface="Aptos"/>
                <a:cs typeface="Aptos"/>
              </a:defRPr>
            </a:pPr>
            <a:r>
              <a:rPr sz="1275" b="0" i="1">
                <a:solidFill>
                  <a:srgbClr val="65717D"/>
                </a:solidFill>
                <a:latin typeface="Aptos"/>
                <a:ea typeface="Aptos"/>
                <a:cs typeface="Aptos"/>
              </a:rPr>
              <a:t>Límite: TF-IDF identifica vocabulario distintivo en títulos; no prueba por sí solo el mecanismo causal.</a:t>
            </a:r>
          </a:p>
        </p:txBody>
      </p:sp>
      <p:sp>
        <p:nvSpPr>
          <p:cNvPr id="17" name="">
            <a:extLst xmlns:a="http://schemas.openxmlformats.org/drawingml/2006/main">
              <a:ext uri="{FF2B5EF4-FFF2-40B4-BE49-F238E27FC236}">
                <a16:creationId xmlns:a16="http://schemas.microsoft.com/office/drawing/2014/main" id="{DF2C69F5-77F3-4249-A4E2-71305B2CC4A8}"/>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line">
            <a:avLst/>
          </a:prstGeom>
          <a:noFill xmlns:a="http://schemas.openxmlformats.org/drawingml/2006/main"/>
          <a:ln xmlns:a="http://schemas.openxmlformats.org/drawingml/2006/main" w="9525">
            <a:solidFill>
              <a:srgbClr val="E8DED0"/>
            </a:solidFill>
            <a:prstDash val="solid"/>
          </a:ln>
        </p:spPr>
      </p:sp>
      <p:sp>
        <p:nvSpPr>
          <p:cNvPr id="18" name="">
            <a:extLst xmlns:a="http://schemas.openxmlformats.org/drawingml/2006/main">
              <a:ext uri="{FF2B5EF4-FFF2-40B4-BE49-F238E27FC236}">
                <a16:creationId xmlns:a16="http://schemas.microsoft.com/office/drawing/2014/main" id="{7C7FBF72-4B16-4BAC-B9BA-B30E58DF01F2}"/>
              </a:ext>
            </a:extLst>
          </p:cNvPr>
          <p:cNvSpPr>
            <a:spLocks xmlns:a="http://schemas.openxmlformats.org/drawingml/2006/main" noGrp="1"/>
          </p:cNvSpPr>
          <p:nvPr/>
        </p:nvSpPr>
        <p:spPr>
          <a:xfrm xmlns:a="http://schemas.openxmlformats.org/drawingml/2006/main">
            <a:off x="609600" y="6486525"/>
            <a:ext cx="1076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88" b="0" i="0">
                <a:solidFill>
                  <a:srgbClr val="65717D"/>
                </a:solidFill>
                <a:latin typeface="Aptos"/>
                <a:ea typeface="Aptos"/>
                <a:cs typeface="Aptos"/>
              </a:defRPr>
            </a:pPr>
            <a:r>
              <a:rPr sz="788" b="0" i="0">
                <a:solidFill>
                  <a:srgbClr val="65717D"/>
                </a:solidFill>
                <a:latin typeface="Aptos"/>
                <a:ea typeface="Aptos"/>
                <a:cs typeface="Aptos"/>
              </a:rPr>
              <a:t>Fuente: analisis_bibliometrico.ipynb, figura 05. Corpus depurado de 48 documentos; títulos normalizados por período.</a:t>
            </a:r>
          </a:p>
        </p:txBody>
      </p:sp>
    </p:spTree>
    <p:extLst>
      <p:ext uri="{BB962C8B-B14F-4D97-AF65-F5344CB8AC3E}">
        <p14:creationId xmlns:p14="http://schemas.microsoft.com/office/powerpoint/2010/main" val="1652210818"/>
      </p:ext>
    </p:extLst>
  </p:cSld>
</p:sld>
</file>

<file path=ppt/slides/slide3.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804540A1-6E55-4D3E-B941-91733850A66B}"/>
              </a:ext>
            </a:extLst>
          </p:cNvPr>
          <p:cNvSpPr>
            <a:spLocks xmlns:a="http://schemas.openxmlformats.org/drawingml/2006/main" noGrp="1"/>
          </p:cNvSpPr>
          <p:nvPr/>
        </p:nvSpPr>
        <p:spPr>
          <a:xfrm xmlns:a="http://schemas.openxmlformats.org/drawingml/2006/main">
            <a:off x="609600" y="323850"/>
            <a:ext cx="514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A63D40"/>
                </a:solidFill>
                <a:latin typeface="Aptos"/>
                <a:ea typeface="Aptos"/>
                <a:cs typeface="Aptos"/>
              </a:defRPr>
            </a:pPr>
            <a:r>
              <a:rPr sz="1050" b="1" i="0">
                <a:solidFill>
                  <a:srgbClr val="A63D40"/>
                </a:solidFill>
                <a:latin typeface="Aptos"/>
                <a:ea typeface="Aptos"/>
                <a:cs typeface="Aptos"/>
              </a:rPr>
              <a:t>IDEA FUNDAMENTAL</a:t>
            </a:r>
          </a:p>
        </p:txBody>
      </p:sp>
      <p:sp>
        <p:nvSpPr>
          <p:cNvPr id="2" name="">
            <a:extLst xmlns:a="http://schemas.openxmlformats.org/drawingml/2006/main">
              <a:ext uri="{FF2B5EF4-FFF2-40B4-BE49-F238E27FC236}">
                <a16:creationId xmlns:a16="http://schemas.microsoft.com/office/drawing/2014/main" id="{CF8D21DD-53BC-4D02-BEF1-2F8C3BC53FE7}"/>
              </a:ext>
            </a:extLst>
          </p:cNvPr>
          <p:cNvSpPr>
            <a:spLocks xmlns:a="http://schemas.openxmlformats.org/drawingml/2006/main" noGrp="1"/>
          </p:cNvSpPr>
          <p:nvPr/>
        </p:nvSpPr>
        <p:spPr>
          <a:xfrm xmlns:a="http://schemas.openxmlformats.org/drawingml/2006/main">
            <a:off x="609600" y="600075"/>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00" b="1" i="0">
                <a:solidFill>
                  <a:srgbClr val="102A43"/>
                </a:solidFill>
                <a:latin typeface="Aptos"/>
                <a:ea typeface="Aptos"/>
                <a:cs typeface="Aptos"/>
              </a:defRPr>
            </a:pPr>
            <a:r>
              <a:rPr sz="3000" b="1" i="0">
                <a:solidFill>
                  <a:srgbClr val="102A43"/>
                </a:solidFill>
                <a:latin typeface="Aptos"/>
                <a:ea typeface="Aptos"/>
                <a:cs typeface="Aptos"/>
              </a:rPr>
              <a:t>La liquidez se determina dentro del sistema</a:t>
            </a:r>
          </a:p>
        </p:txBody>
      </p:sp>
      <p:sp>
        <p:nvSpPr>
          <p:cNvPr id="3" name="">
            <a:extLst xmlns:a="http://schemas.openxmlformats.org/drawingml/2006/main">
              <a:ext uri="{FF2B5EF4-FFF2-40B4-BE49-F238E27FC236}">
                <a16:creationId xmlns:a16="http://schemas.microsoft.com/office/drawing/2014/main" id="{E38512A1-CD38-45FC-993C-97F2848C160C}"/>
              </a:ext>
            </a:extLst>
          </p:cNvPr>
          <p:cNvSpPr>
            <a:spLocks xmlns:a="http://schemas.openxmlformats.org/drawingml/2006/main" noGrp="1"/>
          </p:cNvSpPr>
          <p:nvPr/>
        </p:nvSpPr>
        <p:spPr>
          <a:xfrm xmlns:a="http://schemas.openxmlformats.org/drawingml/2006/main">
            <a:off x="609600" y="1209675"/>
            <a:ext cx="10972800" cy="9525"/>
          </a:xfrm>
          <a:prstGeom xmlns:a="http://schemas.openxmlformats.org/drawingml/2006/main" prst="line">
            <a:avLst/>
          </a:prstGeom>
          <a:noFill xmlns:a="http://schemas.openxmlformats.org/drawingml/2006/main"/>
          <a:ln xmlns:a="http://schemas.openxmlformats.org/drawingml/2006/main" w="19050">
            <a:solidFill>
              <a:srgbClr val="E8DED0"/>
            </a:solidFill>
            <a:prstDash val="solid"/>
          </a:ln>
        </p:spPr>
      </p:sp>
      <p:sp>
        <p:nvSpPr>
          <p:cNvPr id="4" name="">
            <a:extLst xmlns:a="http://schemas.openxmlformats.org/drawingml/2006/main">
              <a:ext uri="{FF2B5EF4-FFF2-40B4-BE49-F238E27FC236}">
                <a16:creationId xmlns:a16="http://schemas.microsoft.com/office/drawing/2014/main" id="{475AD91C-6829-49B9-9C74-A32917E9DA12}"/>
              </a:ext>
            </a:extLst>
          </p:cNvPr>
          <p:cNvSpPr>
            <a:spLocks xmlns:a="http://schemas.openxmlformats.org/drawingml/2006/main" noGrp="1"/>
          </p:cNvSpPr>
          <p:nvPr/>
        </p:nvSpPr>
        <p:spPr>
          <a:xfrm xmlns:a="http://schemas.openxmlformats.org/drawingml/2006/main">
            <a:off x="11144250" y="32385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i="0">
                <a:solidFill>
                  <a:srgbClr val="65717D"/>
                </a:solidFill>
                <a:latin typeface="Aptos"/>
                <a:ea typeface="Aptos"/>
                <a:cs typeface="Aptos"/>
              </a:defRPr>
            </a:pPr>
            <a:r>
              <a:rPr sz="1125" b="1" i="0">
                <a:solidFill>
                  <a:srgbClr val="65717D"/>
                </a:solidFill>
                <a:latin typeface="Aptos"/>
                <a:ea typeface="Aptos"/>
                <a:cs typeface="Aptos"/>
              </a:rPr>
              <a:t>03</a:t>
            </a:r>
          </a:p>
        </p:txBody>
      </p:sp>
      <p:sp>
        <p:nvSpPr>
          <p:cNvPr id="5" name="">
            <a:extLst xmlns:a="http://schemas.openxmlformats.org/drawingml/2006/main">
              <a:ext uri="{FF2B5EF4-FFF2-40B4-BE49-F238E27FC236}">
                <a16:creationId xmlns:a16="http://schemas.microsoft.com/office/drawing/2014/main" id="{FBD7CD1F-1B58-41EC-878A-0497E18B7B4A}"/>
              </a:ext>
            </a:extLst>
          </p:cNvPr>
          <p:cNvSpPr>
            <a:spLocks xmlns:a="http://schemas.openxmlformats.org/drawingml/2006/main" noGrp="1"/>
          </p:cNvSpPr>
          <p:nvPr/>
        </p:nvSpPr>
        <p:spPr>
          <a:xfrm xmlns:a="http://schemas.openxmlformats.org/drawingml/2006/main">
            <a:off x="628650" y="1828800"/>
            <a:ext cx="2143125" cy="1352550"/>
          </a:xfrm>
          <a:prstGeom xmlns:a="http://schemas.openxmlformats.org/drawingml/2006/main" prst="roundRect">
            <a:avLst>
              <a:gd name="adj" fmla="val 12676"/>
            </a:avLst>
          </a:prstGeom>
          <a:solidFill xmlns:a="http://schemas.openxmlformats.org/drawingml/2006/main">
            <a:srgbClr val="F1E6D6"/>
          </a:solidFill>
          <a:ln xmlns:a="http://schemas.openxmlformats.org/drawingml/2006/main" w="19050">
            <a:solidFill>
              <a:srgbClr val="B46A12"/>
            </a:solidFill>
            <a:prstDash val="solid"/>
          </a:ln>
        </p:spPr>
      </p:sp>
      <p:sp>
        <p:nvSpPr>
          <p:cNvPr id="6" name="">
            <a:extLst xmlns:a="http://schemas.openxmlformats.org/drawingml/2006/main">
              <a:ext uri="{FF2B5EF4-FFF2-40B4-BE49-F238E27FC236}">
                <a16:creationId xmlns:a16="http://schemas.microsoft.com/office/drawing/2014/main" id="{F8AF510B-1422-47BB-A782-A015625AE807}"/>
              </a:ext>
            </a:extLst>
          </p:cNvPr>
          <p:cNvSpPr>
            <a:spLocks xmlns:a="http://schemas.openxmlformats.org/drawingml/2006/main" noGrp="1"/>
          </p:cNvSpPr>
          <p:nvPr/>
        </p:nvSpPr>
        <p:spPr>
          <a:xfrm xmlns:a="http://schemas.openxmlformats.org/drawingml/2006/main">
            <a:off x="800100" y="2038350"/>
            <a:ext cx="18002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725" b="1" i="0">
                <a:solidFill>
                  <a:srgbClr val="B46A12"/>
                </a:solidFill>
                <a:latin typeface="Aptos"/>
                <a:ea typeface="Aptos"/>
                <a:cs typeface="Aptos"/>
              </a:defRPr>
            </a:pPr>
            <a:r>
              <a:rPr sz="1725" b="1" i="0">
                <a:solidFill>
                  <a:srgbClr val="B46A12"/>
                </a:solidFill>
                <a:latin typeface="Aptos"/>
                <a:ea typeface="Aptos"/>
                <a:cs typeface="Aptos"/>
              </a:rPr>
              <a:t>Fricciones</a:t>
            </a:r>
          </a:p>
        </p:txBody>
      </p:sp>
      <p:sp>
        <p:nvSpPr>
          <p:cNvPr id="7" name="">
            <a:extLst xmlns:a="http://schemas.openxmlformats.org/drawingml/2006/main">
              <a:ext uri="{FF2B5EF4-FFF2-40B4-BE49-F238E27FC236}">
                <a16:creationId xmlns:a16="http://schemas.microsoft.com/office/drawing/2014/main" id="{C390CD84-7D48-40F3-A082-C10C4AEAA5A0}"/>
              </a:ext>
            </a:extLst>
          </p:cNvPr>
          <p:cNvSpPr>
            <a:spLocks xmlns:a="http://schemas.openxmlformats.org/drawingml/2006/main" noGrp="1"/>
          </p:cNvSpPr>
          <p:nvPr/>
        </p:nvSpPr>
        <p:spPr>
          <a:xfrm xmlns:a="http://schemas.openxmlformats.org/drawingml/2006/main">
            <a:off x="838200" y="2505075"/>
            <a:ext cx="17240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425" b="0" i="0">
                <a:solidFill>
                  <a:srgbClr val="17212B"/>
                </a:solidFill>
                <a:latin typeface="Aptos"/>
                <a:ea typeface="Aptos"/>
                <a:cs typeface="Aptos"/>
              </a:defRPr>
            </a:pPr>
            <a:r>
              <a:rPr sz="1425" b="0" i="0">
                <a:solidFill>
                  <a:srgbClr val="17212B"/>
                </a:solidFill>
                <a:latin typeface="Aptos"/>
                <a:ea typeface="Aptos"/>
                <a:cs typeface="Aptos"/>
              </a:rPr>
              <a:t>Información desigual y cumplimiento costoso</a:t>
            </a:r>
          </a:p>
        </p:txBody>
      </p:sp>
      <p:sp>
        <p:nvSpPr>
          <p:cNvPr id="8" name="">
            <a:extLst xmlns:a="http://schemas.openxmlformats.org/drawingml/2006/main">
              <a:ext uri="{FF2B5EF4-FFF2-40B4-BE49-F238E27FC236}">
                <a16:creationId xmlns:a16="http://schemas.microsoft.com/office/drawing/2014/main" id="{02307410-E055-40B8-921A-C22D112002BB}"/>
              </a:ext>
            </a:extLst>
          </p:cNvPr>
          <p:cNvSpPr>
            <a:spLocks xmlns:a="http://schemas.openxmlformats.org/drawingml/2006/main" noGrp="1"/>
          </p:cNvSpPr>
          <p:nvPr/>
        </p:nvSpPr>
        <p:spPr>
          <a:xfrm xmlns:a="http://schemas.openxmlformats.org/drawingml/2006/main">
            <a:off x="3390900" y="1828800"/>
            <a:ext cx="2143125" cy="1352550"/>
          </a:xfrm>
          <a:prstGeom xmlns:a="http://schemas.openxmlformats.org/drawingml/2006/main" prst="roundRect">
            <a:avLst>
              <a:gd name="adj" fmla="val 12676"/>
            </a:avLst>
          </a:prstGeom>
          <a:solidFill xmlns:a="http://schemas.openxmlformats.org/drawingml/2006/main">
            <a:srgbClr val="F0DFDE"/>
          </a:solidFill>
          <a:ln xmlns:a="http://schemas.openxmlformats.org/drawingml/2006/main" w="19050">
            <a:solidFill>
              <a:srgbClr val="A63D40"/>
            </a:solidFill>
            <a:prstDash val="solid"/>
          </a:ln>
        </p:spPr>
      </p:sp>
      <p:sp>
        <p:nvSpPr>
          <p:cNvPr id="9" name="">
            <a:extLst xmlns:a="http://schemas.openxmlformats.org/drawingml/2006/main">
              <a:ext uri="{FF2B5EF4-FFF2-40B4-BE49-F238E27FC236}">
                <a16:creationId xmlns:a16="http://schemas.microsoft.com/office/drawing/2014/main" id="{8B97E8AE-14B6-4A7F-B804-22662FBC70F9}"/>
              </a:ext>
            </a:extLst>
          </p:cNvPr>
          <p:cNvSpPr>
            <a:spLocks xmlns:a="http://schemas.openxmlformats.org/drawingml/2006/main" noGrp="1"/>
          </p:cNvSpPr>
          <p:nvPr/>
        </p:nvSpPr>
        <p:spPr>
          <a:xfrm xmlns:a="http://schemas.openxmlformats.org/drawingml/2006/main">
            <a:off x="3562350" y="2038350"/>
            <a:ext cx="18002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725" b="1" i="0">
                <a:solidFill>
                  <a:srgbClr val="A63D40"/>
                </a:solidFill>
                <a:latin typeface="Aptos"/>
                <a:ea typeface="Aptos"/>
                <a:cs typeface="Aptos"/>
              </a:defRPr>
            </a:pPr>
            <a:r>
              <a:rPr sz="1725" b="1" i="0">
                <a:solidFill>
                  <a:srgbClr val="A63D40"/>
                </a:solidFill>
                <a:latin typeface="Aptos"/>
                <a:ea typeface="Aptos"/>
                <a:cs typeface="Aptos"/>
              </a:rPr>
              <a:t>Liquidez endógena</a:t>
            </a:r>
          </a:p>
        </p:txBody>
      </p:sp>
      <p:sp>
        <p:nvSpPr>
          <p:cNvPr id="10" name="">
            <a:extLst xmlns:a="http://schemas.openxmlformats.org/drawingml/2006/main">
              <a:ext uri="{FF2B5EF4-FFF2-40B4-BE49-F238E27FC236}">
                <a16:creationId xmlns:a16="http://schemas.microsoft.com/office/drawing/2014/main" id="{D10EEC55-3A60-4C3C-9B9A-A8A7B3735725}"/>
              </a:ext>
            </a:extLst>
          </p:cNvPr>
          <p:cNvSpPr>
            <a:spLocks xmlns:a="http://schemas.openxmlformats.org/drawingml/2006/main" noGrp="1"/>
          </p:cNvSpPr>
          <p:nvPr/>
        </p:nvSpPr>
        <p:spPr>
          <a:xfrm xmlns:a="http://schemas.openxmlformats.org/drawingml/2006/main">
            <a:off x="3600450" y="2505075"/>
            <a:ext cx="17240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7255"/>
          </a:bodyPr>
          <a:lstStyle xmlns:a="http://schemas.openxmlformats.org/drawingml/2006/main"/>
          <a:p xmlns:a="http://schemas.openxmlformats.org/drawingml/2006/main">
            <a:pPr algn="ctr">
              <a:defRPr sz="1425" b="0" i="0">
                <a:solidFill>
                  <a:srgbClr val="17212B"/>
                </a:solidFill>
                <a:latin typeface="Aptos"/>
                <a:ea typeface="Aptos"/>
                <a:cs typeface="Aptos"/>
              </a:defRPr>
            </a:pPr>
            <a:r>
              <a:rPr sz="1425" b="0" i="0">
                <a:solidFill>
                  <a:srgbClr val="17212B"/>
                </a:solidFill>
                <a:latin typeface="Aptos"/>
                <a:ea typeface="Aptos"/>
                <a:cs typeface="Aptos"/>
              </a:rPr>
              <a:t>No todo activo sirve igualmente para comerciar</a:t>
            </a:r>
          </a:p>
        </p:txBody>
      </p:sp>
      <p:sp>
        <p:nvSpPr>
          <p:cNvPr id="11" name="">
            <a:extLst xmlns:a="http://schemas.openxmlformats.org/drawingml/2006/main">
              <a:ext uri="{FF2B5EF4-FFF2-40B4-BE49-F238E27FC236}">
                <a16:creationId xmlns:a16="http://schemas.microsoft.com/office/drawing/2014/main" id="{6B687EEB-5077-46DF-99E3-49561E94FF26}"/>
              </a:ext>
            </a:extLst>
          </p:cNvPr>
          <p:cNvSpPr>
            <a:spLocks xmlns:a="http://schemas.openxmlformats.org/drawingml/2006/main" noGrp="1"/>
          </p:cNvSpPr>
          <p:nvPr/>
        </p:nvSpPr>
        <p:spPr>
          <a:xfrm xmlns:a="http://schemas.openxmlformats.org/drawingml/2006/main">
            <a:off x="6153150" y="1828800"/>
            <a:ext cx="2143125" cy="1352550"/>
          </a:xfrm>
          <a:prstGeom xmlns:a="http://schemas.openxmlformats.org/drawingml/2006/main" prst="roundRect">
            <a:avLst>
              <a:gd name="adj" fmla="val 12676"/>
            </a:avLst>
          </a:prstGeom>
          <a:solidFill xmlns:a="http://schemas.openxmlformats.org/drawingml/2006/main">
            <a:srgbClr val="DCEAEC"/>
          </a:solidFill>
          <a:ln xmlns:a="http://schemas.openxmlformats.org/drawingml/2006/main" w="19050">
            <a:solidFill>
              <a:srgbClr val="1F6875"/>
            </a:solidFill>
            <a:prstDash val="solid"/>
          </a:ln>
        </p:spPr>
      </p:sp>
      <p:sp>
        <p:nvSpPr>
          <p:cNvPr id="12" name="">
            <a:extLst xmlns:a="http://schemas.openxmlformats.org/drawingml/2006/main">
              <a:ext uri="{FF2B5EF4-FFF2-40B4-BE49-F238E27FC236}">
                <a16:creationId xmlns:a16="http://schemas.microsoft.com/office/drawing/2014/main" id="{D6B1710D-A5FC-4782-ACF0-4C90A4BDF5C3}"/>
              </a:ext>
            </a:extLst>
          </p:cNvPr>
          <p:cNvSpPr>
            <a:spLocks xmlns:a="http://schemas.openxmlformats.org/drawingml/2006/main" noGrp="1"/>
          </p:cNvSpPr>
          <p:nvPr/>
        </p:nvSpPr>
        <p:spPr>
          <a:xfrm xmlns:a="http://schemas.openxmlformats.org/drawingml/2006/main">
            <a:off x="6324600" y="2038350"/>
            <a:ext cx="18002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725" b="1" i="0">
                <a:solidFill>
                  <a:srgbClr val="1F6875"/>
                </a:solidFill>
                <a:latin typeface="Aptos"/>
                <a:ea typeface="Aptos"/>
                <a:cs typeface="Aptos"/>
              </a:defRPr>
            </a:pPr>
            <a:r>
              <a:rPr sz="1725" b="1" i="0">
                <a:solidFill>
                  <a:srgbClr val="1F6875"/>
                </a:solidFill>
                <a:latin typeface="Aptos"/>
                <a:ea typeface="Aptos"/>
                <a:cs typeface="Aptos"/>
              </a:rPr>
              <a:t>Balances y reservas</a:t>
            </a:r>
          </a:p>
        </p:txBody>
      </p:sp>
      <p:sp>
        <p:nvSpPr>
          <p:cNvPr id="13" name="">
            <a:extLst xmlns:a="http://schemas.openxmlformats.org/drawingml/2006/main">
              <a:ext uri="{FF2B5EF4-FFF2-40B4-BE49-F238E27FC236}">
                <a16:creationId xmlns:a16="http://schemas.microsoft.com/office/drawing/2014/main" id="{C5829C75-DCDC-462E-AD5E-09904E7E3C5F}"/>
              </a:ext>
            </a:extLst>
          </p:cNvPr>
          <p:cNvSpPr>
            <a:spLocks xmlns:a="http://schemas.openxmlformats.org/drawingml/2006/main" noGrp="1"/>
          </p:cNvSpPr>
          <p:nvPr/>
        </p:nvSpPr>
        <p:spPr>
          <a:xfrm xmlns:a="http://schemas.openxmlformats.org/drawingml/2006/main">
            <a:off x="6362700" y="2505075"/>
            <a:ext cx="17240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2534"/>
          </a:bodyPr>
          <a:lstStyle xmlns:a="http://schemas.openxmlformats.org/drawingml/2006/main"/>
          <a:p xmlns:a="http://schemas.openxmlformats.org/drawingml/2006/main">
            <a:pPr algn="ctr">
              <a:defRPr sz="1425" b="0" i="0">
                <a:solidFill>
                  <a:srgbClr val="17212B"/>
                </a:solidFill>
                <a:latin typeface="Aptos"/>
                <a:ea typeface="Aptos"/>
                <a:cs typeface="Aptos"/>
              </a:defRPr>
            </a:pPr>
            <a:r>
              <a:rPr sz="1425" b="0" i="0">
                <a:solidFill>
                  <a:srgbClr val="17212B"/>
                </a:solidFill>
                <a:latin typeface="Aptos"/>
                <a:ea typeface="Aptos"/>
                <a:cs typeface="Aptos"/>
              </a:rPr>
              <a:t>Depósitos circulan; pagos se liquidan con reservas</a:t>
            </a:r>
          </a:p>
        </p:txBody>
      </p:sp>
      <p:sp>
        <p:nvSpPr>
          <p:cNvPr id="14" name="">
            <a:extLst xmlns:a="http://schemas.openxmlformats.org/drawingml/2006/main">
              <a:ext uri="{FF2B5EF4-FFF2-40B4-BE49-F238E27FC236}">
                <a16:creationId xmlns:a16="http://schemas.microsoft.com/office/drawing/2014/main" id="{3729119D-F9C3-4ACE-B562-0A7101EB15C4}"/>
              </a:ext>
            </a:extLst>
          </p:cNvPr>
          <p:cNvSpPr>
            <a:spLocks xmlns:a="http://schemas.openxmlformats.org/drawingml/2006/main" noGrp="1"/>
          </p:cNvSpPr>
          <p:nvPr/>
        </p:nvSpPr>
        <p:spPr>
          <a:xfrm xmlns:a="http://schemas.openxmlformats.org/drawingml/2006/main">
            <a:off x="8915400" y="1828800"/>
            <a:ext cx="2647950" cy="1352550"/>
          </a:xfrm>
          <a:prstGeom xmlns:a="http://schemas.openxmlformats.org/drawingml/2006/main" prst="roundRect">
            <a:avLst>
              <a:gd name="adj" fmla="val 12676"/>
            </a:avLst>
          </a:prstGeom>
          <a:solidFill xmlns:a="http://schemas.openxmlformats.org/drawingml/2006/main">
            <a:srgbClr val="102A43"/>
          </a:solidFill>
          <a:ln xmlns:a="http://schemas.openxmlformats.org/drawingml/2006/main" w="19050">
            <a:solidFill>
              <a:srgbClr val="102A43"/>
            </a:solidFill>
            <a:prstDash val="solid"/>
          </a:ln>
        </p:spPr>
      </p:sp>
      <p:sp>
        <p:nvSpPr>
          <p:cNvPr id="15" name="">
            <a:extLst xmlns:a="http://schemas.openxmlformats.org/drawingml/2006/main">
              <a:ext uri="{FF2B5EF4-FFF2-40B4-BE49-F238E27FC236}">
                <a16:creationId xmlns:a16="http://schemas.microsoft.com/office/drawing/2014/main" id="{4286A2A3-7D72-428F-8B88-F2828790B063}"/>
              </a:ext>
            </a:extLst>
          </p:cNvPr>
          <p:cNvSpPr>
            <a:spLocks xmlns:a="http://schemas.openxmlformats.org/drawingml/2006/main" noGrp="1"/>
          </p:cNvSpPr>
          <p:nvPr/>
        </p:nvSpPr>
        <p:spPr>
          <a:xfrm xmlns:a="http://schemas.openxmlformats.org/drawingml/2006/main">
            <a:off x="9086850" y="2038350"/>
            <a:ext cx="2305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725" b="1" i="0">
                <a:solidFill>
                  <a:srgbClr val="FFFFFF"/>
                </a:solidFill>
                <a:latin typeface="Aptos"/>
                <a:ea typeface="Aptos"/>
                <a:cs typeface="Aptos"/>
              </a:defRPr>
            </a:pPr>
            <a:r>
              <a:rPr sz="1725" b="1" i="0">
                <a:solidFill>
                  <a:srgbClr val="FFFFFF"/>
                </a:solidFill>
                <a:latin typeface="Aptos"/>
                <a:ea typeface="Aptos"/>
                <a:cs typeface="Aptos"/>
              </a:rPr>
              <a:t>Crédito y tasas</a:t>
            </a:r>
          </a:p>
        </p:txBody>
      </p:sp>
      <p:sp>
        <p:nvSpPr>
          <p:cNvPr id="16" name="">
            <a:extLst xmlns:a="http://schemas.openxmlformats.org/drawingml/2006/main">
              <a:ext uri="{FF2B5EF4-FFF2-40B4-BE49-F238E27FC236}">
                <a16:creationId xmlns:a16="http://schemas.microsoft.com/office/drawing/2014/main" id="{F31DD5E5-6156-4084-BD79-C21690A7CD36}"/>
              </a:ext>
            </a:extLst>
          </p:cNvPr>
          <p:cNvSpPr>
            <a:spLocks xmlns:a="http://schemas.openxmlformats.org/drawingml/2006/main" noGrp="1"/>
          </p:cNvSpPr>
          <p:nvPr/>
        </p:nvSpPr>
        <p:spPr>
          <a:xfrm xmlns:a="http://schemas.openxmlformats.org/drawingml/2006/main">
            <a:off x="9124950" y="2505075"/>
            <a:ext cx="22288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425" b="0" i="0">
                <a:solidFill>
                  <a:srgbClr val="FFFFFF"/>
                </a:solidFill>
                <a:latin typeface="Aptos"/>
                <a:ea typeface="Aptos"/>
                <a:cs typeface="Aptos"/>
              </a:defRPr>
            </a:pPr>
            <a:r>
              <a:rPr sz="1425" b="0" i="0">
                <a:solidFill>
                  <a:srgbClr val="FFFFFF"/>
                </a:solidFill>
                <a:latin typeface="Aptos"/>
                <a:ea typeface="Aptos"/>
                <a:cs typeface="Aptos"/>
              </a:rPr>
              <a:t>La transmisión monetaria depende del estado bancario</a:t>
            </a:r>
          </a:p>
        </p:txBody>
      </p:sp>
      <p:cxnSp>
        <p:nvCxnSpPr>
          <p:cNvPr id="43" name=""/>
          <p:cNvCxnSpPr>
            <a:stCxn xmlns:a="http://schemas.openxmlformats.org/drawingml/2006/main" id="5" idx="3"/>
            <a:endCxn xmlns:a="http://schemas.openxmlformats.org/drawingml/2006/main" id="8" idx="1"/>
          </p:cNvCxnSpPr>
          <p:nvPr/>
        </p:nvCxnSpPr>
        <p:spPr>
          <a:xfrm xmlns:a="http://schemas.openxmlformats.org/drawingml/2006/main">
            <a:off x="2771775" y="2505075"/>
            <a:ext cx="619125" cy="0"/>
          </a:xfrm>
          <a:prstGeom xmlns:a="http://schemas.openxmlformats.org/drawingml/2006/main" prst="straightConnector1">
            <a:avLst/>
          </a:prstGeom>
          <a:ln xmlns:a="http://schemas.openxmlformats.org/drawingml/2006/main" w="19050">
            <a:solidFill>
              <a:srgbClr val="65717D"/>
            </a:solidFill>
            <a:prstDash val="solid"/>
            <a:tailEnd type="triangle" w="sm" len="sm"/>
          </a:ln>
        </p:spPr>
      </p:cxnSp>
      <p:cxnSp>
        <p:nvCxnSpPr>
          <p:cNvPr id="44" name=""/>
          <p:cNvCxnSpPr>
            <a:stCxn xmlns:a="http://schemas.openxmlformats.org/drawingml/2006/main" id="8" idx="3"/>
            <a:endCxn xmlns:a="http://schemas.openxmlformats.org/drawingml/2006/main" id="11" idx="1"/>
          </p:cNvCxnSpPr>
          <p:nvPr/>
        </p:nvCxnSpPr>
        <p:spPr>
          <a:xfrm xmlns:a="http://schemas.openxmlformats.org/drawingml/2006/main">
            <a:off x="5534025" y="2505075"/>
            <a:ext cx="619125" cy="0"/>
          </a:xfrm>
          <a:prstGeom xmlns:a="http://schemas.openxmlformats.org/drawingml/2006/main" prst="straightConnector1">
            <a:avLst/>
          </a:prstGeom>
          <a:ln xmlns:a="http://schemas.openxmlformats.org/drawingml/2006/main" w="19050">
            <a:solidFill>
              <a:srgbClr val="65717D"/>
            </a:solidFill>
            <a:prstDash val="solid"/>
            <a:tailEnd type="triangle" w="sm" len="sm"/>
          </a:ln>
        </p:spPr>
      </p:cxnSp>
      <p:cxnSp>
        <p:nvCxnSpPr>
          <p:cNvPr id="45" name=""/>
          <p:cNvCxnSpPr>
            <a:stCxn xmlns:a="http://schemas.openxmlformats.org/drawingml/2006/main" id="11" idx="3"/>
            <a:endCxn xmlns:a="http://schemas.openxmlformats.org/drawingml/2006/main" id="14" idx="1"/>
          </p:cNvCxnSpPr>
          <p:nvPr/>
        </p:nvCxnSpPr>
        <p:spPr>
          <a:xfrm xmlns:a="http://schemas.openxmlformats.org/drawingml/2006/main">
            <a:off x="8296275" y="2505075"/>
            <a:ext cx="619125" cy="0"/>
          </a:xfrm>
          <a:prstGeom xmlns:a="http://schemas.openxmlformats.org/drawingml/2006/main" prst="straightConnector1">
            <a:avLst/>
          </a:prstGeom>
          <a:ln xmlns:a="http://schemas.openxmlformats.org/drawingml/2006/main" w="19050">
            <a:solidFill>
              <a:srgbClr val="65717D"/>
            </a:solidFill>
            <a:prstDash val="solid"/>
            <a:tailEnd type="triangle" w="sm" len="sm"/>
          </a:ln>
        </p:spPr>
      </p:cxnSp>
      <p:sp>
        <p:nvSpPr>
          <p:cNvPr id="20" name="">
            <a:extLst xmlns:a="http://schemas.openxmlformats.org/drawingml/2006/main">
              <a:ext uri="{FF2B5EF4-FFF2-40B4-BE49-F238E27FC236}">
                <a16:creationId xmlns:a16="http://schemas.microsoft.com/office/drawing/2014/main" id="{02083571-EDEA-4140-A9CA-D2DDB8A242FB}"/>
              </a:ext>
            </a:extLst>
          </p:cNvPr>
          <p:cNvSpPr>
            <a:spLocks xmlns:a="http://schemas.openxmlformats.org/drawingml/2006/main" noGrp="1"/>
          </p:cNvSpPr>
          <p:nvPr/>
        </p:nvSpPr>
        <p:spPr>
          <a:xfrm xmlns:a="http://schemas.openxmlformats.org/drawingml/2006/main">
            <a:off x="3390900" y="4000500"/>
            <a:ext cx="4905375" cy="1000125"/>
          </a:xfrm>
          <a:prstGeom xmlns:a="http://schemas.openxmlformats.org/drawingml/2006/main" prst="roundRect">
            <a:avLst>
              <a:gd name="adj" fmla="val 15238"/>
            </a:avLst>
          </a:prstGeom>
          <a:solidFill xmlns:a="http://schemas.openxmlformats.org/drawingml/2006/main">
            <a:srgbClr val="FFFFFF"/>
          </a:solidFill>
          <a:ln xmlns:a="http://schemas.openxmlformats.org/drawingml/2006/main" w="19050">
            <a:solidFill>
              <a:srgbClr val="102A43"/>
            </a:solidFill>
            <a:prstDash val="solid"/>
          </a:ln>
        </p:spPr>
      </p:sp>
      <p:sp>
        <p:nvSpPr>
          <p:cNvPr id="21" name="">
            <a:extLst xmlns:a="http://schemas.openxmlformats.org/drawingml/2006/main">
              <a:ext uri="{FF2B5EF4-FFF2-40B4-BE49-F238E27FC236}">
                <a16:creationId xmlns:a16="http://schemas.microsoft.com/office/drawing/2014/main" id="{D73D6CE1-F77C-411A-A4D0-415318F27B80}"/>
              </a:ext>
            </a:extLst>
          </p:cNvPr>
          <p:cNvSpPr>
            <a:spLocks xmlns:a="http://schemas.openxmlformats.org/drawingml/2006/main" noGrp="1"/>
          </p:cNvSpPr>
          <p:nvPr/>
        </p:nvSpPr>
        <p:spPr>
          <a:xfrm xmlns:a="http://schemas.openxmlformats.org/drawingml/2006/main">
            <a:off x="3638550" y="4181475"/>
            <a:ext cx="44100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75" b="1" i="0">
                <a:solidFill>
                  <a:srgbClr val="102A43"/>
                </a:solidFill>
                <a:latin typeface="Aptos"/>
                <a:ea typeface="Aptos"/>
                <a:cs typeface="Aptos"/>
              </a:defRPr>
            </a:pPr>
            <a:r>
              <a:rPr sz="1875" b="1" i="0">
                <a:solidFill>
                  <a:srgbClr val="102A43"/>
                </a:solidFill>
                <a:latin typeface="Aptos"/>
                <a:ea typeface="Aptos"/>
                <a:cs typeface="Aptos"/>
              </a:rPr>
              <a:t>Balance del banco central</a:t>
            </a:r>
          </a:p>
        </p:txBody>
      </p:sp>
      <p:sp>
        <p:nvSpPr>
          <p:cNvPr id="22" name="">
            <a:extLst xmlns:a="http://schemas.openxmlformats.org/drawingml/2006/main">
              <a:ext uri="{FF2B5EF4-FFF2-40B4-BE49-F238E27FC236}">
                <a16:creationId xmlns:a16="http://schemas.microsoft.com/office/drawing/2014/main" id="{31D2B8AB-C817-4882-8994-82992FBECBEF}"/>
              </a:ext>
            </a:extLst>
          </p:cNvPr>
          <p:cNvSpPr>
            <a:spLocks xmlns:a="http://schemas.openxmlformats.org/drawingml/2006/main" noGrp="1"/>
          </p:cNvSpPr>
          <p:nvPr/>
        </p:nvSpPr>
        <p:spPr>
          <a:xfrm xmlns:a="http://schemas.openxmlformats.org/drawingml/2006/main">
            <a:off x="3752850" y="4581525"/>
            <a:ext cx="4171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425" b="0" i="0">
                <a:solidFill>
                  <a:srgbClr val="17212B"/>
                </a:solidFill>
                <a:latin typeface="Aptos"/>
                <a:ea typeface="Aptos"/>
                <a:cs typeface="Aptos"/>
              </a:defRPr>
            </a:pPr>
            <a:r>
              <a:rPr sz="1425" b="0" i="0">
                <a:solidFill>
                  <a:srgbClr val="17212B"/>
                </a:solidFill>
                <a:latin typeface="Aptos"/>
                <a:ea typeface="Aptos"/>
                <a:cs typeface="Aptos"/>
              </a:rPr>
              <a:t>Oferta de reservas, colateral y composición de activos</a:t>
            </a:r>
          </a:p>
        </p:txBody>
      </p:sp>
      <p:cxnSp>
        <p:nvCxnSpPr>
          <p:cNvPr id="49" name=""/>
          <p:cNvCxnSpPr>
            <a:stCxn xmlns:a="http://schemas.openxmlformats.org/drawingml/2006/main" id="20" idx="0"/>
            <a:endCxn xmlns:a="http://schemas.openxmlformats.org/drawingml/2006/main" id="11" idx="2"/>
          </p:cNvCxnSpPr>
          <p:nvPr/>
        </p:nvCxnSpPr>
        <p:spPr>
          <a:xfrm xmlns:a="http://schemas.openxmlformats.org/drawingml/2006/main" flipV="1">
            <a:off x="5843588" y="3181350"/>
            <a:ext cx="1381125" cy="819150"/>
          </a:xfrm>
          <a:prstGeom xmlns:a="http://schemas.openxmlformats.org/drawingml/2006/main" prst="straightConnector1">
            <a:avLst/>
          </a:prstGeom>
          <a:ln xmlns:a="http://schemas.openxmlformats.org/drawingml/2006/main" w="28575">
            <a:solidFill>
              <a:srgbClr val="A63D40"/>
            </a:solidFill>
            <a:prstDash val="solid"/>
            <a:tailEnd type="triangle" w="sm" len="sm"/>
          </a:ln>
        </p:spPr>
      </p:cxnSp>
      <p:sp>
        <p:nvSpPr>
          <p:cNvPr id="24" name="">
            <a:extLst xmlns:a="http://schemas.openxmlformats.org/drawingml/2006/main">
              <a:ext uri="{FF2B5EF4-FFF2-40B4-BE49-F238E27FC236}">
                <a16:creationId xmlns:a16="http://schemas.microsoft.com/office/drawing/2014/main" id="{387485E6-3B4F-48E8-A485-2AFC6FD1FB5E}"/>
              </a:ext>
            </a:extLst>
          </p:cNvPr>
          <p:cNvSpPr>
            <a:spLocks xmlns:a="http://schemas.openxmlformats.org/drawingml/2006/main" noGrp="1"/>
          </p:cNvSpPr>
          <p:nvPr/>
        </p:nvSpPr>
        <p:spPr>
          <a:xfrm xmlns:a="http://schemas.openxmlformats.org/drawingml/2006/main">
            <a:off x="1104900" y="5505450"/>
            <a:ext cx="99822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025" b="1" i="0">
                <a:solidFill>
                  <a:srgbClr val="102A43"/>
                </a:solidFill>
                <a:latin typeface="Aptos"/>
                <a:ea typeface="Aptos"/>
                <a:cs typeface="Aptos"/>
              </a:defRPr>
            </a:pPr>
            <a:r>
              <a:rPr sz="2025" b="1" i="0">
                <a:solidFill>
                  <a:srgbClr val="102A43"/>
                </a:solidFill>
                <a:latin typeface="Aptos"/>
                <a:ea typeface="Aptos"/>
                <a:cs typeface="Aptos"/>
              </a:rPr>
              <a:t>La tasa de política sigue siendo central, pero no resume por sí sola la postura monetaria.</a:t>
            </a:r>
          </a:p>
        </p:txBody>
      </p:sp>
      <p:sp>
        <p:nvSpPr>
          <p:cNvPr id="25" name="">
            <a:extLst xmlns:a="http://schemas.openxmlformats.org/drawingml/2006/main">
              <a:ext uri="{FF2B5EF4-FFF2-40B4-BE49-F238E27FC236}">
                <a16:creationId xmlns:a16="http://schemas.microsoft.com/office/drawing/2014/main" id="{CC3A07B1-CDDF-4E51-A689-51D8BCA46B70}"/>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line">
            <a:avLst/>
          </a:prstGeom>
          <a:noFill xmlns:a="http://schemas.openxmlformats.org/drawingml/2006/main"/>
          <a:ln xmlns:a="http://schemas.openxmlformats.org/drawingml/2006/main" w="9525">
            <a:solidFill>
              <a:srgbClr val="E8DED0"/>
            </a:solidFill>
            <a:prstDash val="solid"/>
          </a:ln>
        </p:spPr>
      </p:sp>
      <p:sp>
        <p:nvSpPr>
          <p:cNvPr id="26" name="">
            <a:extLst xmlns:a="http://schemas.openxmlformats.org/drawingml/2006/main">
              <a:ext uri="{FF2B5EF4-FFF2-40B4-BE49-F238E27FC236}">
                <a16:creationId xmlns:a16="http://schemas.microsoft.com/office/drawing/2014/main" id="{61E6CD43-785D-4035-9822-43F45CDE9A54}"/>
              </a:ext>
            </a:extLst>
          </p:cNvPr>
          <p:cNvSpPr>
            <a:spLocks xmlns:a="http://schemas.openxmlformats.org/drawingml/2006/main" noGrp="1"/>
          </p:cNvSpPr>
          <p:nvPr/>
        </p:nvSpPr>
        <p:spPr>
          <a:xfrm xmlns:a="http://schemas.openxmlformats.org/drawingml/2006/main">
            <a:off x="609600" y="6486525"/>
            <a:ext cx="1076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88" b="0" i="0">
                <a:solidFill>
                  <a:srgbClr val="65717D"/>
                </a:solidFill>
                <a:latin typeface="Aptos"/>
                <a:ea typeface="Aptos"/>
                <a:cs typeface="Aptos"/>
              </a:defRPr>
            </a:pPr>
            <a:r>
              <a:rPr sz="788" b="0" i="0">
                <a:solidFill>
                  <a:srgbClr val="65717D"/>
                </a:solidFill>
                <a:latin typeface="Aptos"/>
                <a:ea typeface="Aptos"/>
                <a:cs typeface="Aptos"/>
              </a:rPr>
              <a:t>Fuentes: Bigio (2015: 1); Bianchi y Bigio (2022 [2013]: 1); Bigio (2022: 372, 377–379); Bigio (2026: 19).</a:t>
            </a:r>
          </a:p>
        </p:txBody>
      </p:sp>
    </p:spTree>
    <p:extLst>
      <p:ext uri="{BB962C8B-B14F-4D97-AF65-F5344CB8AC3E}">
        <p14:creationId xmlns:p14="http://schemas.microsoft.com/office/powerpoint/2010/main" val="113266229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3BF82FCB-332B-4188-BAC3-451CEFF80AED}"/>
              </a:ext>
            </a:extLst>
          </p:cNvPr>
          <p:cNvSpPr>
            <a:spLocks xmlns:a="http://schemas.openxmlformats.org/drawingml/2006/main" noGrp="1"/>
          </p:cNvSpPr>
          <p:nvPr/>
        </p:nvSpPr>
        <p:spPr>
          <a:xfrm xmlns:a="http://schemas.openxmlformats.org/drawingml/2006/main">
            <a:off x="609600" y="323850"/>
            <a:ext cx="514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A63D40"/>
                </a:solidFill>
                <a:latin typeface="Aptos"/>
                <a:ea typeface="Aptos"/>
                <a:cs typeface="Aptos"/>
              </a:defRPr>
            </a:pPr>
            <a:r>
              <a:rPr sz="1050" b="1" i="0">
                <a:solidFill>
                  <a:srgbClr val="A63D40"/>
                </a:solidFill>
                <a:latin typeface="Aptos"/>
                <a:ea typeface="Aptos"/>
                <a:cs typeface="Aptos"/>
              </a:rPr>
              <a:t>RESPUESTA A P4</a:t>
            </a:r>
          </a:p>
        </p:txBody>
      </p:sp>
      <p:sp>
        <p:nvSpPr>
          <p:cNvPr id="2" name="">
            <a:extLst xmlns:a="http://schemas.openxmlformats.org/drawingml/2006/main">
              <a:ext uri="{FF2B5EF4-FFF2-40B4-BE49-F238E27FC236}">
                <a16:creationId xmlns:a16="http://schemas.microsoft.com/office/drawing/2014/main" id="{4F62807C-38F1-48C6-9F30-49586287F7B9}"/>
              </a:ext>
            </a:extLst>
          </p:cNvPr>
          <p:cNvSpPr>
            <a:spLocks xmlns:a="http://schemas.openxmlformats.org/drawingml/2006/main" noGrp="1"/>
          </p:cNvSpPr>
          <p:nvPr/>
        </p:nvSpPr>
        <p:spPr>
          <a:xfrm xmlns:a="http://schemas.openxmlformats.org/drawingml/2006/main">
            <a:off x="609600" y="600075"/>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276"/>
          </a:bodyPr>
          <a:lstStyle xmlns:a="http://schemas.openxmlformats.org/drawingml/2006/main"/>
          <a:p xmlns:a="http://schemas.openxmlformats.org/drawingml/2006/main">
            <a:pPr algn="l">
              <a:defRPr sz="3000" b="1" i="0">
                <a:solidFill>
                  <a:srgbClr val="102A43"/>
                </a:solidFill>
                <a:latin typeface="Aptos"/>
                <a:ea typeface="Aptos"/>
                <a:cs typeface="Aptos"/>
              </a:defRPr>
            </a:pPr>
            <a:r>
              <a:rPr sz="3000" b="1" i="0">
                <a:solidFill>
                  <a:srgbClr val="102A43"/>
                </a:solidFill>
                <a:latin typeface="Aptos"/>
                <a:ea typeface="Aptos"/>
                <a:cs typeface="Aptos"/>
              </a:rPr>
              <a:t>Cada género documental revela una parte distinta de su pensamiento</a:t>
            </a:r>
          </a:p>
        </p:txBody>
      </p:sp>
      <p:sp>
        <p:nvSpPr>
          <p:cNvPr id="3" name="">
            <a:extLst xmlns:a="http://schemas.openxmlformats.org/drawingml/2006/main">
              <a:ext uri="{FF2B5EF4-FFF2-40B4-BE49-F238E27FC236}">
                <a16:creationId xmlns:a16="http://schemas.microsoft.com/office/drawing/2014/main" id="{3FE88F10-8A6F-4B5C-BF0B-690004C24DF4}"/>
              </a:ext>
            </a:extLst>
          </p:cNvPr>
          <p:cNvSpPr>
            <a:spLocks xmlns:a="http://schemas.openxmlformats.org/drawingml/2006/main" noGrp="1"/>
          </p:cNvSpPr>
          <p:nvPr/>
        </p:nvSpPr>
        <p:spPr>
          <a:xfrm xmlns:a="http://schemas.openxmlformats.org/drawingml/2006/main">
            <a:off x="609600" y="1209675"/>
            <a:ext cx="10972800" cy="9525"/>
          </a:xfrm>
          <a:prstGeom xmlns:a="http://schemas.openxmlformats.org/drawingml/2006/main" prst="line">
            <a:avLst/>
          </a:prstGeom>
          <a:noFill xmlns:a="http://schemas.openxmlformats.org/drawingml/2006/main"/>
          <a:ln xmlns:a="http://schemas.openxmlformats.org/drawingml/2006/main" w="19050">
            <a:solidFill>
              <a:srgbClr val="E8DED0"/>
            </a:solidFill>
            <a:prstDash val="solid"/>
          </a:ln>
        </p:spPr>
      </p:sp>
      <p:sp>
        <p:nvSpPr>
          <p:cNvPr id="4" name="">
            <a:extLst xmlns:a="http://schemas.openxmlformats.org/drawingml/2006/main">
              <a:ext uri="{FF2B5EF4-FFF2-40B4-BE49-F238E27FC236}">
                <a16:creationId xmlns:a16="http://schemas.microsoft.com/office/drawing/2014/main" id="{0BAE1780-69C9-4F49-B1B8-1510B500F5AE}"/>
              </a:ext>
            </a:extLst>
          </p:cNvPr>
          <p:cNvSpPr>
            <a:spLocks xmlns:a="http://schemas.openxmlformats.org/drawingml/2006/main" noGrp="1"/>
          </p:cNvSpPr>
          <p:nvPr/>
        </p:nvSpPr>
        <p:spPr>
          <a:xfrm xmlns:a="http://schemas.openxmlformats.org/drawingml/2006/main">
            <a:off x="11144250" y="32385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i="0">
                <a:solidFill>
                  <a:srgbClr val="65717D"/>
                </a:solidFill>
                <a:latin typeface="Aptos"/>
                <a:ea typeface="Aptos"/>
                <a:cs typeface="Aptos"/>
              </a:defRPr>
            </a:pPr>
            <a:r>
              <a:rPr sz="1125" b="1" i="0">
                <a:solidFill>
                  <a:srgbClr val="65717D"/>
                </a:solidFill>
                <a:latin typeface="Aptos"/>
                <a:ea typeface="Aptos"/>
                <a:cs typeface="Aptos"/>
              </a:rPr>
              <a:t>04</a:t>
            </a:r>
          </a:p>
        </p:txBody>
      </p:sp>
      <p:sp>
        <p:nvSpPr>
          <p:cNvPr id="5" name="">
            <a:extLst xmlns:a="http://schemas.openxmlformats.org/drawingml/2006/main">
              <a:ext uri="{FF2B5EF4-FFF2-40B4-BE49-F238E27FC236}">
                <a16:creationId xmlns:a16="http://schemas.microsoft.com/office/drawing/2014/main" id="{FADCF7EA-5A3F-48D7-8FFC-279CCD2583A2}"/>
              </a:ext>
            </a:extLst>
          </p:cNvPr>
          <p:cNvSpPr>
            <a:spLocks xmlns:a="http://schemas.openxmlformats.org/drawingml/2006/main" noGrp="1"/>
          </p:cNvSpPr>
          <p:nvPr/>
        </p:nvSpPr>
        <p:spPr>
          <a:xfrm xmlns:a="http://schemas.openxmlformats.org/drawingml/2006/main">
            <a:off x="647700" y="1476375"/>
            <a:ext cx="5029200" cy="2657475"/>
          </a:xfrm>
          <a:prstGeom xmlns:a="http://schemas.openxmlformats.org/drawingml/2006/main" prst="roundRect">
            <a:avLst>
              <a:gd name="adj" fmla="val 5735"/>
            </a:avLst>
          </a:prstGeom>
          <a:solidFill xmlns:a="http://schemas.openxmlformats.org/drawingml/2006/main">
            <a:srgbClr val="F7F3EC"/>
          </a:solidFill>
          <a:ln xmlns:a="http://schemas.openxmlformats.org/drawingml/2006/main" w="9525">
            <a:solidFill>
              <a:srgbClr val="E8DED0"/>
            </a:solidFill>
            <a:prstDash val="solid"/>
          </a:ln>
        </p:spPr>
      </p:sp>
      <p:sp>
        <p:nvSpPr>
          <p:cNvPr id="6" name="">
            <a:extLst xmlns:a="http://schemas.openxmlformats.org/drawingml/2006/main">
              <a:ext uri="{FF2B5EF4-FFF2-40B4-BE49-F238E27FC236}">
                <a16:creationId xmlns:a16="http://schemas.microsoft.com/office/drawing/2014/main" id="{731DFDF8-918F-416A-9B52-2A50435AFED1}"/>
              </a:ext>
            </a:extLst>
          </p:cNvPr>
          <p:cNvSpPr>
            <a:spLocks xmlns:a="http://schemas.openxmlformats.org/drawingml/2006/main" noGrp="1"/>
          </p:cNvSpPr>
          <p:nvPr/>
        </p:nvSpPr>
        <p:spPr>
          <a:xfrm xmlns:a="http://schemas.openxmlformats.org/drawingml/2006/main">
            <a:off x="895350" y="1704975"/>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A63D40"/>
                </a:solidFill>
                <a:latin typeface="Aptos"/>
                <a:ea typeface="Aptos"/>
                <a:cs typeface="Aptos"/>
              </a:defRPr>
            </a:pPr>
            <a:r>
              <a:rPr sz="1125" b="1" i="0">
                <a:solidFill>
                  <a:srgbClr val="A63D40"/>
                </a:solidFill>
                <a:latin typeface="Aptos"/>
                <a:ea typeface="Aptos"/>
                <a:cs typeface="Aptos"/>
              </a:rPr>
              <a:t>PERÚ · 2022</a:t>
            </a:r>
          </a:p>
        </p:txBody>
      </p:sp>
      <p:sp>
        <p:nvSpPr>
          <p:cNvPr id="7" name="">
            <a:extLst xmlns:a="http://schemas.openxmlformats.org/drawingml/2006/main">
              <a:ext uri="{FF2B5EF4-FFF2-40B4-BE49-F238E27FC236}">
                <a16:creationId xmlns:a16="http://schemas.microsoft.com/office/drawing/2014/main" id="{0C858DAE-722C-4B24-8FDE-47423166C6ED}"/>
              </a:ext>
            </a:extLst>
          </p:cNvPr>
          <p:cNvSpPr>
            <a:spLocks xmlns:a="http://schemas.openxmlformats.org/drawingml/2006/main" noGrp="1"/>
          </p:cNvSpPr>
          <p:nvPr/>
        </p:nvSpPr>
        <p:spPr>
          <a:xfrm xmlns:a="http://schemas.openxmlformats.org/drawingml/2006/main">
            <a:off x="895350" y="2028825"/>
            <a:ext cx="428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i="0">
                <a:solidFill>
                  <a:srgbClr val="102A43"/>
                </a:solidFill>
                <a:latin typeface="Aptos"/>
                <a:ea typeface="Aptos"/>
                <a:cs typeface="Aptos"/>
              </a:defRPr>
            </a:pPr>
            <a:r>
              <a:rPr sz="2100" b="1" i="0">
                <a:solidFill>
                  <a:srgbClr val="102A43"/>
                </a:solidFill>
                <a:latin typeface="Aptos"/>
                <a:ea typeface="Aptos"/>
                <a:cs typeface="Aptos"/>
              </a:rPr>
              <a:t>Capítulo en castellano</a:t>
            </a:r>
          </a:p>
        </p:txBody>
      </p:sp>
      <p:sp>
        <p:nvSpPr>
          <p:cNvPr id="8" name="">
            <a:extLst xmlns:a="http://schemas.openxmlformats.org/drawingml/2006/main">
              <a:ext uri="{FF2B5EF4-FFF2-40B4-BE49-F238E27FC236}">
                <a16:creationId xmlns:a16="http://schemas.microsoft.com/office/drawing/2014/main" id="{8ED9CFDA-2853-4D79-984F-6746786644F6}"/>
              </a:ext>
            </a:extLst>
          </p:cNvPr>
          <p:cNvSpPr>
            <a:spLocks xmlns:a="http://schemas.openxmlformats.org/drawingml/2006/main" noGrp="1"/>
          </p:cNvSpPr>
          <p:nvPr/>
        </p:nvSpPr>
        <p:spPr>
          <a:xfrm xmlns:a="http://schemas.openxmlformats.org/drawingml/2006/main">
            <a:off x="895350" y="2533650"/>
            <a:ext cx="42481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0" i="1">
                <a:solidFill>
                  <a:srgbClr val="17212B"/>
                </a:solidFill>
                <a:latin typeface="Aptos"/>
                <a:ea typeface="Aptos"/>
                <a:cs typeface="Aptos"/>
              </a:defRPr>
            </a:pPr>
            <a:r>
              <a:rPr sz="1725" b="0" i="1">
                <a:solidFill>
                  <a:srgbClr val="17212B"/>
                </a:solidFill>
                <a:latin typeface="Aptos"/>
                <a:ea typeface="Aptos"/>
                <a:cs typeface="Aptos"/>
              </a:rPr>
              <a:t>“Estas dos áreas estaban prácticamente divorciadas… ¿Por qué en nuestros modelos no tenemos bancos?”</a:t>
            </a:r>
          </a:p>
        </p:txBody>
      </p:sp>
      <p:sp>
        <p:nvSpPr>
          <p:cNvPr id="9" name="">
            <a:extLst xmlns:a="http://schemas.openxmlformats.org/drawingml/2006/main">
              <a:ext uri="{FF2B5EF4-FFF2-40B4-BE49-F238E27FC236}">
                <a16:creationId xmlns:a16="http://schemas.microsoft.com/office/drawing/2014/main" id="{9516D496-73CB-4E72-A2F6-E2DFD2DAECB3}"/>
              </a:ext>
            </a:extLst>
          </p:cNvPr>
          <p:cNvSpPr>
            <a:spLocks xmlns:a="http://schemas.openxmlformats.org/drawingml/2006/main" noGrp="1"/>
          </p:cNvSpPr>
          <p:nvPr/>
        </p:nvSpPr>
        <p:spPr>
          <a:xfrm xmlns:a="http://schemas.openxmlformats.org/drawingml/2006/main">
            <a:off x="895350" y="3733800"/>
            <a:ext cx="4191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A63D40"/>
                </a:solidFill>
                <a:latin typeface="Aptos"/>
                <a:ea typeface="Aptos"/>
                <a:cs typeface="Aptos"/>
              </a:defRPr>
            </a:pPr>
            <a:r>
              <a:rPr sz="1350" b="1" i="0">
                <a:solidFill>
                  <a:srgbClr val="A63D40"/>
                </a:solidFill>
                <a:latin typeface="Aptos"/>
                <a:ea typeface="Aptos"/>
                <a:cs typeface="Aptos"/>
              </a:rPr>
              <a:t>Origen narrado: BCRP, 2004–05</a:t>
            </a:r>
          </a:p>
        </p:txBody>
      </p:sp>
      <p:sp>
        <p:nvSpPr>
          <p:cNvPr id="10" name="">
            <a:extLst xmlns:a="http://schemas.openxmlformats.org/drawingml/2006/main">
              <a:ext uri="{FF2B5EF4-FFF2-40B4-BE49-F238E27FC236}">
                <a16:creationId xmlns:a16="http://schemas.microsoft.com/office/drawing/2014/main" id="{743E1919-8D6F-48F0-9F2B-A46ABEAD2E40}"/>
              </a:ext>
            </a:extLst>
          </p:cNvPr>
          <p:cNvSpPr>
            <a:spLocks xmlns:a="http://schemas.openxmlformats.org/drawingml/2006/main" noGrp="1"/>
          </p:cNvSpPr>
          <p:nvPr/>
        </p:nvSpPr>
        <p:spPr>
          <a:xfrm xmlns:a="http://schemas.openxmlformats.org/drawingml/2006/main">
            <a:off x="6515100" y="1476375"/>
            <a:ext cx="5029200" cy="2657475"/>
          </a:xfrm>
          <a:prstGeom xmlns:a="http://schemas.openxmlformats.org/drawingml/2006/main" prst="roundRect">
            <a:avLst>
              <a:gd name="adj" fmla="val 5735"/>
            </a:avLst>
          </a:prstGeom>
          <a:solidFill xmlns:a="http://schemas.openxmlformats.org/drawingml/2006/main">
            <a:srgbClr val="DCEAEC"/>
          </a:solidFill>
          <a:ln xmlns:a="http://schemas.openxmlformats.org/drawingml/2006/main" w="9525">
            <a:solidFill>
              <a:srgbClr val="1F6875"/>
            </a:solidFill>
            <a:prstDash val="solid"/>
          </a:ln>
        </p:spPr>
      </p:sp>
      <p:sp>
        <p:nvSpPr>
          <p:cNvPr id="11" name="">
            <a:extLst xmlns:a="http://schemas.openxmlformats.org/drawingml/2006/main">
              <a:ext uri="{FF2B5EF4-FFF2-40B4-BE49-F238E27FC236}">
                <a16:creationId xmlns:a16="http://schemas.microsoft.com/office/drawing/2014/main" id="{FD19FF27-EE4C-4153-B1ED-A309263E20BD}"/>
              </a:ext>
            </a:extLst>
          </p:cNvPr>
          <p:cNvSpPr>
            <a:spLocks xmlns:a="http://schemas.openxmlformats.org/drawingml/2006/main" noGrp="1"/>
          </p:cNvSpPr>
          <p:nvPr/>
        </p:nvSpPr>
        <p:spPr>
          <a:xfrm xmlns:a="http://schemas.openxmlformats.org/drawingml/2006/main">
            <a:off x="6762750" y="1704975"/>
            <a:ext cx="333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1F6875"/>
                </a:solidFill>
                <a:latin typeface="Aptos"/>
                <a:ea typeface="Aptos"/>
                <a:cs typeface="Aptos"/>
              </a:defRPr>
            </a:pPr>
            <a:r>
              <a:rPr sz="1125" b="1" i="0">
                <a:solidFill>
                  <a:srgbClr val="1F6875"/>
                </a:solidFill>
                <a:latin typeface="Aptos"/>
                <a:ea typeface="Aptos"/>
                <a:cs typeface="Aptos"/>
              </a:rPr>
              <a:t>PROFESIÓN INTERNACIONAL · 2026</a:t>
            </a:r>
          </a:p>
        </p:txBody>
      </p:sp>
      <p:sp>
        <p:nvSpPr>
          <p:cNvPr id="12" name="">
            <a:extLst xmlns:a="http://schemas.openxmlformats.org/drawingml/2006/main">
              <a:ext uri="{FF2B5EF4-FFF2-40B4-BE49-F238E27FC236}">
                <a16:creationId xmlns:a16="http://schemas.microsoft.com/office/drawing/2014/main" id="{6E6CE1AB-BF9C-4B20-857B-C82CB976EAD3}"/>
              </a:ext>
            </a:extLst>
          </p:cNvPr>
          <p:cNvSpPr>
            <a:spLocks xmlns:a="http://schemas.openxmlformats.org/drawingml/2006/main" noGrp="1"/>
          </p:cNvSpPr>
          <p:nvPr/>
        </p:nvSpPr>
        <p:spPr>
          <a:xfrm xmlns:a="http://schemas.openxmlformats.org/drawingml/2006/main">
            <a:off x="6762750" y="2028825"/>
            <a:ext cx="428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i="0">
                <a:solidFill>
                  <a:srgbClr val="102A43"/>
                </a:solidFill>
                <a:latin typeface="Aptos"/>
                <a:ea typeface="Aptos"/>
                <a:cs typeface="Aptos"/>
              </a:defRPr>
            </a:pPr>
            <a:r>
              <a:rPr sz="2100" b="1" i="0">
                <a:solidFill>
                  <a:srgbClr val="102A43"/>
                </a:solidFill>
                <a:latin typeface="Aptos"/>
                <a:ea typeface="Aptos"/>
                <a:cs typeface="Aptos"/>
              </a:rPr>
              <a:t>Ensayo de agenda</a:t>
            </a:r>
          </a:p>
        </p:txBody>
      </p:sp>
      <p:sp>
        <p:nvSpPr>
          <p:cNvPr id="13" name="">
            <a:extLst xmlns:a="http://schemas.openxmlformats.org/drawingml/2006/main">
              <a:ext uri="{FF2B5EF4-FFF2-40B4-BE49-F238E27FC236}">
                <a16:creationId xmlns:a16="http://schemas.microsoft.com/office/drawing/2014/main" id="{F305618A-7716-4633-B671-E053B16997B0}"/>
              </a:ext>
            </a:extLst>
          </p:cNvPr>
          <p:cNvSpPr>
            <a:spLocks xmlns:a="http://schemas.openxmlformats.org/drawingml/2006/main" noGrp="1"/>
          </p:cNvSpPr>
          <p:nvPr/>
        </p:nvSpPr>
        <p:spPr>
          <a:xfrm xmlns:a="http://schemas.openxmlformats.org/drawingml/2006/main">
            <a:off x="6762750" y="2533650"/>
            <a:ext cx="42481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0" i="1">
                <a:solidFill>
                  <a:srgbClr val="17212B"/>
                </a:solidFill>
                <a:latin typeface="Aptos"/>
                <a:ea typeface="Aptos"/>
                <a:cs typeface="Aptos"/>
              </a:defRPr>
            </a:pPr>
            <a:r>
              <a:rPr sz="1725" b="0" i="1">
                <a:solidFill>
                  <a:srgbClr val="17212B"/>
                </a:solidFill>
                <a:latin typeface="Aptos"/>
                <a:ea typeface="Aptos"/>
                <a:cs typeface="Aptos"/>
              </a:rPr>
              <a:t>“I was embarrassed that, as a PhD student, I couldn’t even define market liquidity!”</a:t>
            </a:r>
          </a:p>
        </p:txBody>
      </p:sp>
      <p:sp>
        <p:nvSpPr>
          <p:cNvPr id="14" name="">
            <a:extLst xmlns:a="http://schemas.openxmlformats.org/drawingml/2006/main">
              <a:ext uri="{FF2B5EF4-FFF2-40B4-BE49-F238E27FC236}">
                <a16:creationId xmlns:a16="http://schemas.microsoft.com/office/drawing/2014/main" id="{31AE7025-93C8-4F12-A2C4-A4E4175AD5F0}"/>
              </a:ext>
            </a:extLst>
          </p:cNvPr>
          <p:cNvSpPr>
            <a:spLocks xmlns:a="http://schemas.openxmlformats.org/drawingml/2006/main" noGrp="1"/>
          </p:cNvSpPr>
          <p:nvPr/>
        </p:nvSpPr>
        <p:spPr>
          <a:xfrm xmlns:a="http://schemas.openxmlformats.org/drawingml/2006/main">
            <a:off x="6762750" y="3733800"/>
            <a:ext cx="4191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1F6875"/>
                </a:solidFill>
                <a:latin typeface="Aptos"/>
                <a:ea typeface="Aptos"/>
                <a:cs typeface="Aptos"/>
              </a:defRPr>
            </a:pPr>
            <a:r>
              <a:rPr sz="1350" b="1" i="0">
                <a:solidFill>
                  <a:srgbClr val="1F6875"/>
                </a:solidFill>
                <a:latin typeface="Aptos"/>
                <a:ea typeface="Aptos"/>
                <a:cs typeface="Aptos"/>
              </a:rPr>
              <a:t>Origen narrado: Bear Stearns, 2008</a:t>
            </a:r>
          </a:p>
        </p:txBody>
      </p:sp>
      <p:sp>
        <p:nvSpPr>
          <p:cNvPr id="15" name="">
            <a:extLst xmlns:a="http://schemas.openxmlformats.org/drawingml/2006/main">
              <a:ext uri="{FF2B5EF4-FFF2-40B4-BE49-F238E27FC236}">
                <a16:creationId xmlns:a16="http://schemas.microsoft.com/office/drawing/2014/main" id="{34165578-4D96-460A-A296-9EBFD0A1EE53}"/>
              </a:ext>
            </a:extLst>
          </p:cNvPr>
          <p:cNvSpPr>
            <a:spLocks xmlns:a="http://schemas.openxmlformats.org/drawingml/2006/main" noGrp="1"/>
          </p:cNvSpPr>
          <p:nvPr/>
        </p:nvSpPr>
        <p:spPr>
          <a:xfrm xmlns:a="http://schemas.openxmlformats.org/drawingml/2006/main">
            <a:off x="685800" y="4581525"/>
            <a:ext cx="171450" cy="171450"/>
          </a:xfrm>
          <a:prstGeom xmlns:a="http://schemas.openxmlformats.org/drawingml/2006/main" prst="ellipse">
            <a:avLst/>
          </a:prstGeom>
          <a:solidFill xmlns:a="http://schemas.openxmlformats.org/drawingml/2006/main">
            <a:srgbClr val="102A43"/>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B133755F-D12B-4370-B25B-8141657CA62A}"/>
              </a:ext>
            </a:extLst>
          </p:cNvPr>
          <p:cNvSpPr>
            <a:spLocks xmlns:a="http://schemas.openxmlformats.org/drawingml/2006/main" noGrp="1"/>
          </p:cNvSpPr>
          <p:nvPr/>
        </p:nvSpPr>
        <p:spPr>
          <a:xfrm xmlns:a="http://schemas.openxmlformats.org/drawingml/2006/main">
            <a:off x="857250" y="4667250"/>
            <a:ext cx="1981200" cy="9525"/>
          </a:xfrm>
          <a:prstGeom xmlns:a="http://schemas.openxmlformats.org/drawingml/2006/main" prst="line">
            <a:avLst/>
          </a:prstGeom>
          <a:noFill xmlns:a="http://schemas.openxmlformats.org/drawingml/2006/main"/>
          <a:ln xmlns:a="http://schemas.openxmlformats.org/drawingml/2006/main" w="28575">
            <a:solidFill>
              <a:srgbClr val="DCE4E8"/>
            </a:solidFill>
            <a:prstDash val="solid"/>
          </a:ln>
        </p:spPr>
      </p:sp>
      <p:sp>
        <p:nvSpPr>
          <p:cNvPr id="17" name="">
            <a:extLst xmlns:a="http://schemas.openxmlformats.org/drawingml/2006/main">
              <a:ext uri="{FF2B5EF4-FFF2-40B4-BE49-F238E27FC236}">
                <a16:creationId xmlns:a16="http://schemas.microsoft.com/office/drawing/2014/main" id="{646E3D36-DCF2-42D9-A103-8C3D2182E0CF}"/>
              </a:ext>
            </a:extLst>
          </p:cNvPr>
          <p:cNvSpPr>
            <a:spLocks xmlns:a="http://schemas.openxmlformats.org/drawingml/2006/main" noGrp="1"/>
          </p:cNvSpPr>
          <p:nvPr/>
        </p:nvSpPr>
        <p:spPr>
          <a:xfrm xmlns:a="http://schemas.openxmlformats.org/drawingml/2006/main">
            <a:off x="685800" y="4914900"/>
            <a:ext cx="19526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i="0">
                <a:solidFill>
                  <a:srgbClr val="102A43"/>
                </a:solidFill>
                <a:latin typeface="Aptos"/>
                <a:ea typeface="Aptos"/>
                <a:cs typeface="Aptos"/>
              </a:defRPr>
            </a:pPr>
            <a:r>
              <a:rPr sz="1275" b="1" i="0">
                <a:solidFill>
                  <a:srgbClr val="102A43"/>
                </a:solidFill>
                <a:latin typeface="Aptos"/>
                <a:ea typeface="Aptos"/>
                <a:cs typeface="Aptos"/>
              </a:rPr>
              <a:t>Working papers</a:t>
            </a:r>
          </a:p>
        </p:txBody>
      </p:sp>
      <p:sp>
        <p:nvSpPr>
          <p:cNvPr id="18" name="">
            <a:extLst xmlns:a="http://schemas.openxmlformats.org/drawingml/2006/main">
              <a:ext uri="{FF2B5EF4-FFF2-40B4-BE49-F238E27FC236}">
                <a16:creationId xmlns:a16="http://schemas.microsoft.com/office/drawing/2014/main" id="{CEE5241D-AB20-44AA-B6F8-C9B881090587}"/>
              </a:ext>
            </a:extLst>
          </p:cNvPr>
          <p:cNvSpPr>
            <a:spLocks xmlns:a="http://schemas.openxmlformats.org/drawingml/2006/main" noGrp="1"/>
          </p:cNvSpPr>
          <p:nvPr/>
        </p:nvSpPr>
        <p:spPr>
          <a:xfrm xmlns:a="http://schemas.openxmlformats.org/drawingml/2006/main">
            <a:off x="685800" y="5219700"/>
            <a:ext cx="1952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i="0">
                <a:solidFill>
                  <a:srgbClr val="65717D"/>
                </a:solidFill>
                <a:latin typeface="Aptos"/>
                <a:ea typeface="Aptos"/>
                <a:cs typeface="Aptos"/>
              </a:defRPr>
            </a:pPr>
            <a:r>
              <a:rPr sz="1200" b="0" i="0">
                <a:solidFill>
                  <a:srgbClr val="65717D"/>
                </a:solidFill>
                <a:latin typeface="Aptos"/>
                <a:ea typeface="Aptos"/>
                <a:cs typeface="Aptos"/>
              </a:rPr>
              <a:t>circulación</a:t>
            </a:r>
          </a:p>
        </p:txBody>
      </p:sp>
      <p:sp>
        <p:nvSpPr>
          <p:cNvPr id="19" name="">
            <a:extLst xmlns:a="http://schemas.openxmlformats.org/drawingml/2006/main">
              <a:ext uri="{FF2B5EF4-FFF2-40B4-BE49-F238E27FC236}">
                <a16:creationId xmlns:a16="http://schemas.microsoft.com/office/drawing/2014/main" id="{137FF64B-BE31-4903-B2CF-EEC9D942109C}"/>
              </a:ext>
            </a:extLst>
          </p:cNvPr>
          <p:cNvSpPr>
            <a:spLocks xmlns:a="http://schemas.openxmlformats.org/drawingml/2006/main" noGrp="1"/>
          </p:cNvSpPr>
          <p:nvPr/>
        </p:nvSpPr>
        <p:spPr>
          <a:xfrm xmlns:a="http://schemas.openxmlformats.org/drawingml/2006/main">
            <a:off x="2838450" y="4581525"/>
            <a:ext cx="171450" cy="171450"/>
          </a:xfrm>
          <a:prstGeom xmlns:a="http://schemas.openxmlformats.org/drawingml/2006/main" prst="ellipse">
            <a:avLst/>
          </a:prstGeom>
          <a:solidFill xmlns:a="http://schemas.openxmlformats.org/drawingml/2006/main">
            <a:srgbClr val="102A43"/>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98F761B0-0D5B-4F66-8629-8B1E05746368}"/>
              </a:ext>
            </a:extLst>
          </p:cNvPr>
          <p:cNvSpPr>
            <a:spLocks xmlns:a="http://schemas.openxmlformats.org/drawingml/2006/main" noGrp="1"/>
          </p:cNvSpPr>
          <p:nvPr/>
        </p:nvSpPr>
        <p:spPr>
          <a:xfrm xmlns:a="http://schemas.openxmlformats.org/drawingml/2006/main">
            <a:off x="3009900" y="4667250"/>
            <a:ext cx="1981200" cy="9525"/>
          </a:xfrm>
          <a:prstGeom xmlns:a="http://schemas.openxmlformats.org/drawingml/2006/main" prst="line">
            <a:avLst/>
          </a:prstGeom>
          <a:noFill xmlns:a="http://schemas.openxmlformats.org/drawingml/2006/main"/>
          <a:ln xmlns:a="http://schemas.openxmlformats.org/drawingml/2006/main" w="28575">
            <a:solidFill>
              <a:srgbClr val="DCE4E8"/>
            </a:solidFill>
            <a:prstDash val="solid"/>
          </a:ln>
        </p:spPr>
      </p:sp>
      <p:sp>
        <p:nvSpPr>
          <p:cNvPr id="21" name="">
            <a:extLst xmlns:a="http://schemas.openxmlformats.org/drawingml/2006/main">
              <a:ext uri="{FF2B5EF4-FFF2-40B4-BE49-F238E27FC236}">
                <a16:creationId xmlns:a16="http://schemas.microsoft.com/office/drawing/2014/main" id="{C482D9F2-27A4-4301-B566-A09528F9A7B1}"/>
              </a:ext>
            </a:extLst>
          </p:cNvPr>
          <p:cNvSpPr>
            <a:spLocks xmlns:a="http://schemas.openxmlformats.org/drawingml/2006/main" noGrp="1"/>
          </p:cNvSpPr>
          <p:nvPr/>
        </p:nvSpPr>
        <p:spPr>
          <a:xfrm xmlns:a="http://schemas.openxmlformats.org/drawingml/2006/main">
            <a:off x="2838450" y="4914900"/>
            <a:ext cx="19526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i="0">
                <a:solidFill>
                  <a:srgbClr val="102A43"/>
                </a:solidFill>
                <a:latin typeface="Aptos"/>
                <a:ea typeface="Aptos"/>
                <a:cs typeface="Aptos"/>
              </a:defRPr>
            </a:pPr>
            <a:r>
              <a:rPr sz="1275" b="1" i="0">
                <a:solidFill>
                  <a:srgbClr val="102A43"/>
                </a:solidFill>
                <a:latin typeface="Aptos"/>
                <a:ea typeface="Aptos"/>
                <a:cs typeface="Aptos"/>
              </a:rPr>
              <a:t>Artículos</a:t>
            </a:r>
          </a:p>
        </p:txBody>
      </p:sp>
      <p:sp>
        <p:nvSpPr>
          <p:cNvPr id="22" name="">
            <a:extLst xmlns:a="http://schemas.openxmlformats.org/drawingml/2006/main">
              <a:ext uri="{FF2B5EF4-FFF2-40B4-BE49-F238E27FC236}">
                <a16:creationId xmlns:a16="http://schemas.microsoft.com/office/drawing/2014/main" id="{2FFE4622-D993-4F9A-A6F0-5B4B0D9CB9AA}"/>
              </a:ext>
            </a:extLst>
          </p:cNvPr>
          <p:cNvSpPr>
            <a:spLocks xmlns:a="http://schemas.openxmlformats.org/drawingml/2006/main" noGrp="1"/>
          </p:cNvSpPr>
          <p:nvPr/>
        </p:nvSpPr>
        <p:spPr>
          <a:xfrm xmlns:a="http://schemas.openxmlformats.org/drawingml/2006/main">
            <a:off x="2838450" y="5219700"/>
            <a:ext cx="1952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i="0">
                <a:solidFill>
                  <a:srgbClr val="65717D"/>
                </a:solidFill>
                <a:latin typeface="Aptos"/>
                <a:ea typeface="Aptos"/>
                <a:cs typeface="Aptos"/>
              </a:defRPr>
            </a:pPr>
            <a:r>
              <a:rPr sz="1200" b="0" i="0">
                <a:solidFill>
                  <a:srgbClr val="65717D"/>
                </a:solidFill>
                <a:latin typeface="Aptos"/>
                <a:ea typeface="Aptos"/>
                <a:cs typeface="Aptos"/>
              </a:rPr>
              <a:t>formalización</a:t>
            </a:r>
          </a:p>
        </p:txBody>
      </p:sp>
      <p:sp>
        <p:nvSpPr>
          <p:cNvPr id="23" name="">
            <a:extLst xmlns:a="http://schemas.openxmlformats.org/drawingml/2006/main">
              <a:ext uri="{FF2B5EF4-FFF2-40B4-BE49-F238E27FC236}">
                <a16:creationId xmlns:a16="http://schemas.microsoft.com/office/drawing/2014/main" id="{4D2414D8-2B56-4B26-B024-77CF5281209F}"/>
              </a:ext>
            </a:extLst>
          </p:cNvPr>
          <p:cNvSpPr>
            <a:spLocks xmlns:a="http://schemas.openxmlformats.org/drawingml/2006/main" noGrp="1"/>
          </p:cNvSpPr>
          <p:nvPr/>
        </p:nvSpPr>
        <p:spPr>
          <a:xfrm xmlns:a="http://schemas.openxmlformats.org/drawingml/2006/main">
            <a:off x="4991100" y="4581525"/>
            <a:ext cx="171450" cy="171450"/>
          </a:xfrm>
          <a:prstGeom xmlns:a="http://schemas.openxmlformats.org/drawingml/2006/main" prst="ellipse">
            <a:avLst/>
          </a:prstGeom>
          <a:solidFill xmlns:a="http://schemas.openxmlformats.org/drawingml/2006/main">
            <a:srgbClr val="102A43"/>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13B4B388-4A64-42ED-A675-8D5688A282E4}"/>
              </a:ext>
            </a:extLst>
          </p:cNvPr>
          <p:cNvSpPr>
            <a:spLocks xmlns:a="http://schemas.openxmlformats.org/drawingml/2006/main" noGrp="1"/>
          </p:cNvSpPr>
          <p:nvPr/>
        </p:nvSpPr>
        <p:spPr>
          <a:xfrm xmlns:a="http://schemas.openxmlformats.org/drawingml/2006/main">
            <a:off x="5162550" y="4667250"/>
            <a:ext cx="1981200" cy="9525"/>
          </a:xfrm>
          <a:prstGeom xmlns:a="http://schemas.openxmlformats.org/drawingml/2006/main" prst="line">
            <a:avLst/>
          </a:prstGeom>
          <a:noFill xmlns:a="http://schemas.openxmlformats.org/drawingml/2006/main"/>
          <a:ln xmlns:a="http://schemas.openxmlformats.org/drawingml/2006/main" w="28575">
            <a:solidFill>
              <a:srgbClr val="DCE4E8"/>
            </a:solidFill>
            <a:prstDash val="solid"/>
          </a:ln>
        </p:spPr>
      </p:sp>
      <p:sp>
        <p:nvSpPr>
          <p:cNvPr id="25" name="">
            <a:extLst xmlns:a="http://schemas.openxmlformats.org/drawingml/2006/main">
              <a:ext uri="{FF2B5EF4-FFF2-40B4-BE49-F238E27FC236}">
                <a16:creationId xmlns:a16="http://schemas.microsoft.com/office/drawing/2014/main" id="{4A90E844-EAAF-466D-806B-7FAD60D89860}"/>
              </a:ext>
            </a:extLst>
          </p:cNvPr>
          <p:cNvSpPr>
            <a:spLocks xmlns:a="http://schemas.openxmlformats.org/drawingml/2006/main" noGrp="1"/>
          </p:cNvSpPr>
          <p:nvPr/>
        </p:nvSpPr>
        <p:spPr>
          <a:xfrm xmlns:a="http://schemas.openxmlformats.org/drawingml/2006/main">
            <a:off x="4991100" y="4914900"/>
            <a:ext cx="19526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i="0">
                <a:solidFill>
                  <a:srgbClr val="102A43"/>
                </a:solidFill>
                <a:latin typeface="Aptos"/>
                <a:ea typeface="Aptos"/>
                <a:cs typeface="Aptos"/>
              </a:defRPr>
            </a:pPr>
            <a:r>
              <a:rPr sz="1275" b="1" i="0">
                <a:solidFill>
                  <a:srgbClr val="102A43"/>
                </a:solidFill>
                <a:latin typeface="Aptos"/>
                <a:ea typeface="Aptos"/>
                <a:cs typeface="Aptos"/>
              </a:rPr>
              <a:t>Discussions</a:t>
            </a:r>
          </a:p>
        </p:txBody>
      </p:sp>
      <p:sp>
        <p:nvSpPr>
          <p:cNvPr id="26" name="">
            <a:extLst xmlns:a="http://schemas.openxmlformats.org/drawingml/2006/main">
              <a:ext uri="{FF2B5EF4-FFF2-40B4-BE49-F238E27FC236}">
                <a16:creationId xmlns:a16="http://schemas.microsoft.com/office/drawing/2014/main" id="{C75CA6F0-DC27-4DD9-B3D6-10F96309B6D0}"/>
              </a:ext>
            </a:extLst>
          </p:cNvPr>
          <p:cNvSpPr>
            <a:spLocks xmlns:a="http://schemas.openxmlformats.org/drawingml/2006/main" noGrp="1"/>
          </p:cNvSpPr>
          <p:nvPr/>
        </p:nvSpPr>
        <p:spPr>
          <a:xfrm xmlns:a="http://schemas.openxmlformats.org/drawingml/2006/main">
            <a:off x="4991100" y="5219700"/>
            <a:ext cx="1952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i="0">
                <a:solidFill>
                  <a:srgbClr val="65717D"/>
                </a:solidFill>
                <a:latin typeface="Aptos"/>
                <a:ea typeface="Aptos"/>
                <a:cs typeface="Aptos"/>
              </a:defRPr>
            </a:pPr>
            <a:r>
              <a:rPr sz="1200" b="0" i="0">
                <a:solidFill>
                  <a:srgbClr val="65717D"/>
                </a:solidFill>
                <a:latin typeface="Aptos"/>
                <a:ea typeface="Aptos"/>
                <a:cs typeface="Aptos"/>
              </a:rPr>
              <a:t>método</a:t>
            </a:r>
          </a:p>
        </p:txBody>
      </p:sp>
      <p:sp>
        <p:nvSpPr>
          <p:cNvPr id="27" name="">
            <a:extLst xmlns:a="http://schemas.openxmlformats.org/drawingml/2006/main">
              <a:ext uri="{FF2B5EF4-FFF2-40B4-BE49-F238E27FC236}">
                <a16:creationId xmlns:a16="http://schemas.microsoft.com/office/drawing/2014/main" id="{5041C043-868E-47BE-A103-E43EB57D1A39}"/>
              </a:ext>
            </a:extLst>
          </p:cNvPr>
          <p:cNvSpPr>
            <a:spLocks xmlns:a="http://schemas.openxmlformats.org/drawingml/2006/main" noGrp="1"/>
          </p:cNvSpPr>
          <p:nvPr/>
        </p:nvSpPr>
        <p:spPr>
          <a:xfrm xmlns:a="http://schemas.openxmlformats.org/drawingml/2006/main">
            <a:off x="7143750" y="4581525"/>
            <a:ext cx="171450" cy="171450"/>
          </a:xfrm>
          <a:prstGeom xmlns:a="http://schemas.openxmlformats.org/drawingml/2006/main" prst="ellipse">
            <a:avLst/>
          </a:prstGeom>
          <a:solidFill xmlns:a="http://schemas.openxmlformats.org/drawingml/2006/main">
            <a:srgbClr val="102A43"/>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9A9EF8DB-A5F2-4624-88AD-5CFD14948755}"/>
              </a:ext>
            </a:extLst>
          </p:cNvPr>
          <p:cNvSpPr>
            <a:spLocks xmlns:a="http://schemas.openxmlformats.org/drawingml/2006/main" noGrp="1"/>
          </p:cNvSpPr>
          <p:nvPr/>
        </p:nvSpPr>
        <p:spPr>
          <a:xfrm xmlns:a="http://schemas.openxmlformats.org/drawingml/2006/main">
            <a:off x="7315200" y="4667250"/>
            <a:ext cx="1981200" cy="9525"/>
          </a:xfrm>
          <a:prstGeom xmlns:a="http://schemas.openxmlformats.org/drawingml/2006/main" prst="line">
            <a:avLst/>
          </a:prstGeom>
          <a:noFill xmlns:a="http://schemas.openxmlformats.org/drawingml/2006/main"/>
          <a:ln xmlns:a="http://schemas.openxmlformats.org/drawingml/2006/main" w="28575">
            <a:solidFill>
              <a:srgbClr val="DCE4E8"/>
            </a:solidFill>
            <a:prstDash val="solid"/>
          </a:ln>
        </p:spPr>
      </p:sp>
      <p:sp>
        <p:nvSpPr>
          <p:cNvPr id="29" name="">
            <a:extLst xmlns:a="http://schemas.openxmlformats.org/drawingml/2006/main">
              <a:ext uri="{FF2B5EF4-FFF2-40B4-BE49-F238E27FC236}">
                <a16:creationId xmlns:a16="http://schemas.microsoft.com/office/drawing/2014/main" id="{0DAAFC9F-7B7C-4453-B657-EAE00FF09903}"/>
              </a:ext>
            </a:extLst>
          </p:cNvPr>
          <p:cNvSpPr>
            <a:spLocks xmlns:a="http://schemas.openxmlformats.org/drawingml/2006/main" noGrp="1"/>
          </p:cNvSpPr>
          <p:nvPr/>
        </p:nvSpPr>
        <p:spPr>
          <a:xfrm xmlns:a="http://schemas.openxmlformats.org/drawingml/2006/main">
            <a:off x="7143750" y="4914900"/>
            <a:ext cx="19526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i="0">
                <a:solidFill>
                  <a:srgbClr val="102A43"/>
                </a:solidFill>
                <a:latin typeface="Aptos"/>
                <a:ea typeface="Aptos"/>
                <a:cs typeface="Aptos"/>
              </a:defRPr>
            </a:pPr>
            <a:r>
              <a:rPr sz="1275" b="1" i="0">
                <a:solidFill>
                  <a:srgbClr val="102A43"/>
                </a:solidFill>
                <a:latin typeface="Aptos"/>
                <a:ea typeface="Aptos"/>
                <a:cs typeface="Aptos"/>
              </a:rPr>
              <a:t>Carta de política</a:t>
            </a:r>
          </a:p>
        </p:txBody>
      </p:sp>
      <p:sp>
        <p:nvSpPr>
          <p:cNvPr id="30" name="">
            <a:extLst xmlns:a="http://schemas.openxmlformats.org/drawingml/2006/main">
              <a:ext uri="{FF2B5EF4-FFF2-40B4-BE49-F238E27FC236}">
                <a16:creationId xmlns:a16="http://schemas.microsoft.com/office/drawing/2014/main" id="{EF218868-D25D-4BDD-878A-DEFD782484FE}"/>
              </a:ext>
            </a:extLst>
          </p:cNvPr>
          <p:cNvSpPr>
            <a:spLocks xmlns:a="http://schemas.openxmlformats.org/drawingml/2006/main" noGrp="1"/>
          </p:cNvSpPr>
          <p:nvPr/>
        </p:nvSpPr>
        <p:spPr>
          <a:xfrm xmlns:a="http://schemas.openxmlformats.org/drawingml/2006/main">
            <a:off x="7143750" y="5219700"/>
            <a:ext cx="1952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i="0">
                <a:solidFill>
                  <a:srgbClr val="65717D"/>
                </a:solidFill>
                <a:latin typeface="Aptos"/>
                <a:ea typeface="Aptos"/>
                <a:cs typeface="Aptos"/>
              </a:defRPr>
            </a:pPr>
            <a:r>
              <a:rPr sz="1200" b="0" i="0">
                <a:solidFill>
                  <a:srgbClr val="65717D"/>
                </a:solidFill>
                <a:latin typeface="Aptos"/>
                <a:ea typeface="Aptos"/>
                <a:cs typeface="Aptos"/>
              </a:rPr>
              <a:t>recomendación</a:t>
            </a:r>
          </a:p>
        </p:txBody>
      </p:sp>
      <p:sp>
        <p:nvSpPr>
          <p:cNvPr id="31" name="">
            <a:extLst xmlns:a="http://schemas.openxmlformats.org/drawingml/2006/main">
              <a:ext uri="{FF2B5EF4-FFF2-40B4-BE49-F238E27FC236}">
                <a16:creationId xmlns:a16="http://schemas.microsoft.com/office/drawing/2014/main" id="{ED0D7AB6-A9E8-43F1-83C8-2D5215024BAE}"/>
              </a:ext>
            </a:extLst>
          </p:cNvPr>
          <p:cNvSpPr>
            <a:spLocks xmlns:a="http://schemas.openxmlformats.org/drawingml/2006/main" noGrp="1"/>
          </p:cNvSpPr>
          <p:nvPr/>
        </p:nvSpPr>
        <p:spPr>
          <a:xfrm xmlns:a="http://schemas.openxmlformats.org/drawingml/2006/main">
            <a:off x="9296400" y="4581525"/>
            <a:ext cx="171450" cy="171450"/>
          </a:xfrm>
          <a:prstGeom xmlns:a="http://schemas.openxmlformats.org/drawingml/2006/main" prst="ellipse">
            <a:avLst/>
          </a:prstGeom>
          <a:solidFill xmlns:a="http://schemas.openxmlformats.org/drawingml/2006/main">
            <a:srgbClr val="A63D40"/>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A7BFA896-9574-4761-8BE5-51FAB39454CA}"/>
              </a:ext>
            </a:extLst>
          </p:cNvPr>
          <p:cNvSpPr>
            <a:spLocks xmlns:a="http://schemas.openxmlformats.org/drawingml/2006/main" noGrp="1"/>
          </p:cNvSpPr>
          <p:nvPr/>
        </p:nvSpPr>
        <p:spPr>
          <a:xfrm xmlns:a="http://schemas.openxmlformats.org/drawingml/2006/main">
            <a:off x="9296400" y="4914900"/>
            <a:ext cx="19526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i="0">
                <a:solidFill>
                  <a:srgbClr val="102A43"/>
                </a:solidFill>
                <a:latin typeface="Aptos"/>
                <a:ea typeface="Aptos"/>
                <a:cs typeface="Aptos"/>
              </a:defRPr>
            </a:pPr>
            <a:r>
              <a:rPr sz="1275" b="1" i="0">
                <a:solidFill>
                  <a:srgbClr val="102A43"/>
                </a:solidFill>
                <a:latin typeface="Aptos"/>
                <a:ea typeface="Aptos"/>
                <a:cs typeface="Aptos"/>
              </a:rPr>
              <a:t>Research vision</a:t>
            </a:r>
          </a:p>
        </p:txBody>
      </p:sp>
      <p:sp>
        <p:nvSpPr>
          <p:cNvPr id="33" name="">
            <a:extLst xmlns:a="http://schemas.openxmlformats.org/drawingml/2006/main">
              <a:ext uri="{FF2B5EF4-FFF2-40B4-BE49-F238E27FC236}">
                <a16:creationId xmlns:a16="http://schemas.microsoft.com/office/drawing/2014/main" id="{D29152EF-6F4A-43A9-8ED9-222C7DEDDCFB}"/>
              </a:ext>
            </a:extLst>
          </p:cNvPr>
          <p:cNvSpPr>
            <a:spLocks xmlns:a="http://schemas.openxmlformats.org/drawingml/2006/main" noGrp="1"/>
          </p:cNvSpPr>
          <p:nvPr/>
        </p:nvSpPr>
        <p:spPr>
          <a:xfrm xmlns:a="http://schemas.openxmlformats.org/drawingml/2006/main">
            <a:off x="9296400" y="5219700"/>
            <a:ext cx="1952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i="0">
                <a:solidFill>
                  <a:srgbClr val="65717D"/>
                </a:solidFill>
                <a:latin typeface="Aptos"/>
                <a:ea typeface="Aptos"/>
                <a:cs typeface="Aptos"/>
              </a:defRPr>
            </a:pPr>
            <a:r>
              <a:rPr sz="1200" b="0" i="0">
                <a:solidFill>
                  <a:srgbClr val="65717D"/>
                </a:solidFill>
                <a:latin typeface="Aptos"/>
                <a:ea typeface="Aptos"/>
                <a:cs typeface="Aptos"/>
              </a:rPr>
              <a:t>autoclasificación</a:t>
            </a:r>
          </a:p>
        </p:txBody>
      </p:sp>
      <p:sp>
        <p:nvSpPr>
          <p:cNvPr id="34" name="">
            <a:extLst xmlns:a="http://schemas.openxmlformats.org/drawingml/2006/main">
              <a:ext uri="{FF2B5EF4-FFF2-40B4-BE49-F238E27FC236}">
                <a16:creationId xmlns:a16="http://schemas.microsoft.com/office/drawing/2014/main" id="{1E91E95C-7FC0-4621-B84D-0497390E2223}"/>
              </a:ext>
            </a:extLst>
          </p:cNvPr>
          <p:cNvSpPr>
            <a:spLocks xmlns:a="http://schemas.openxmlformats.org/drawingml/2006/main" noGrp="1"/>
          </p:cNvSpPr>
          <p:nvPr/>
        </p:nvSpPr>
        <p:spPr>
          <a:xfrm xmlns:a="http://schemas.openxmlformats.org/drawingml/2006/main">
            <a:off x="876300" y="5838825"/>
            <a:ext cx="10439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725" b="1" i="0">
                <a:solidFill>
                  <a:srgbClr val="A63D40"/>
                </a:solidFill>
                <a:latin typeface="Aptos"/>
                <a:ea typeface="Aptos"/>
                <a:cs typeface="Aptos"/>
              </a:defRPr>
            </a:pPr>
            <a:r>
              <a:rPr sz="1725" b="1" i="0">
                <a:solidFill>
                  <a:srgbClr val="A63D40"/>
                </a:solidFill>
                <a:latin typeface="Aptos"/>
                <a:ea typeface="Aptos"/>
                <a:cs typeface="Aptos"/>
              </a:rPr>
              <a:t>Los dos relatos son compatibles: cada documento selecciona un origen para una audiencia distinta.</a:t>
            </a:r>
          </a:p>
        </p:txBody>
      </p:sp>
      <p:sp>
        <p:nvSpPr>
          <p:cNvPr id="35" name="">
            <a:extLst xmlns:a="http://schemas.openxmlformats.org/drawingml/2006/main">
              <a:ext uri="{FF2B5EF4-FFF2-40B4-BE49-F238E27FC236}">
                <a16:creationId xmlns:a16="http://schemas.microsoft.com/office/drawing/2014/main" id="{D019259F-E20F-45CE-99BF-0CDC83B8B1BF}"/>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line">
            <a:avLst/>
          </a:prstGeom>
          <a:noFill xmlns:a="http://schemas.openxmlformats.org/drawingml/2006/main"/>
          <a:ln xmlns:a="http://schemas.openxmlformats.org/drawingml/2006/main" w="9525">
            <a:solidFill>
              <a:srgbClr val="E8DED0"/>
            </a:solidFill>
            <a:prstDash val="solid"/>
          </a:ln>
        </p:spPr>
      </p:sp>
      <p:sp>
        <p:nvSpPr>
          <p:cNvPr id="36" name="">
            <a:extLst xmlns:a="http://schemas.openxmlformats.org/drawingml/2006/main">
              <a:ext uri="{FF2B5EF4-FFF2-40B4-BE49-F238E27FC236}">
                <a16:creationId xmlns:a16="http://schemas.microsoft.com/office/drawing/2014/main" id="{278AE5EB-F9FB-48A6-8807-578030238BDF}"/>
              </a:ext>
            </a:extLst>
          </p:cNvPr>
          <p:cNvSpPr>
            <a:spLocks xmlns:a="http://schemas.openxmlformats.org/drawingml/2006/main" noGrp="1"/>
          </p:cNvSpPr>
          <p:nvPr/>
        </p:nvSpPr>
        <p:spPr>
          <a:xfrm xmlns:a="http://schemas.openxmlformats.org/drawingml/2006/main">
            <a:off x="609600" y="6486525"/>
            <a:ext cx="1076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88" b="0" i="0">
                <a:solidFill>
                  <a:srgbClr val="65717D"/>
                </a:solidFill>
                <a:latin typeface="Aptos"/>
                <a:ea typeface="Aptos"/>
                <a:cs typeface="Aptos"/>
              </a:defRPr>
            </a:pPr>
            <a:r>
              <a:rPr sz="788" b="0" i="0">
                <a:solidFill>
                  <a:srgbClr val="65717D"/>
                </a:solidFill>
                <a:latin typeface="Aptos"/>
                <a:ea typeface="Aptos"/>
                <a:cs typeface="Aptos"/>
              </a:rPr>
              <a:t>Fuentes: Bigio (2022: 371); Bigio (2026: 1–2); corpus local de 48 documentos.</a:t>
            </a:r>
          </a:p>
        </p:txBody>
      </p:sp>
    </p:spTree>
    <p:extLst>
      <p:ext uri="{BB962C8B-B14F-4D97-AF65-F5344CB8AC3E}">
        <p14:creationId xmlns:p14="http://schemas.microsoft.com/office/powerpoint/2010/main" val="2052495542"/>
      </p:ext>
    </p:extLst>
  </p:cSld>
</p:sld>
</file>

<file path=ppt/slides/slide5.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A5ABB800-F9B8-44A7-87A9-B2FBEFB6FBC0}"/>
              </a:ext>
            </a:extLst>
          </p:cNvPr>
          <p:cNvSpPr>
            <a:spLocks xmlns:a="http://schemas.openxmlformats.org/drawingml/2006/main" noGrp="1"/>
          </p:cNvSpPr>
          <p:nvPr/>
        </p:nvSpPr>
        <p:spPr>
          <a:xfrm xmlns:a="http://schemas.openxmlformats.org/drawingml/2006/main">
            <a:off x="609600" y="323850"/>
            <a:ext cx="514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A63D40"/>
                </a:solidFill>
                <a:latin typeface="Aptos"/>
                <a:ea typeface="Aptos"/>
                <a:cs typeface="Aptos"/>
              </a:defRPr>
            </a:pPr>
            <a:r>
              <a:rPr sz="1050" b="1" i="0">
                <a:solidFill>
                  <a:srgbClr val="A63D40"/>
                </a:solidFill>
                <a:latin typeface="Aptos"/>
                <a:ea typeface="Aptos"/>
                <a:cs typeface="Aptos"/>
              </a:rPr>
              <a:t>VALOR AÑADIDO</a:t>
            </a:r>
          </a:p>
        </p:txBody>
      </p:sp>
      <p:sp>
        <p:nvSpPr>
          <p:cNvPr id="2" name="">
            <a:extLst xmlns:a="http://schemas.openxmlformats.org/drawingml/2006/main">
              <a:ext uri="{FF2B5EF4-FFF2-40B4-BE49-F238E27FC236}">
                <a16:creationId xmlns:a16="http://schemas.microsoft.com/office/drawing/2014/main" id="{5501208D-822C-4096-B129-9D0687D41C82}"/>
              </a:ext>
            </a:extLst>
          </p:cNvPr>
          <p:cNvSpPr>
            <a:spLocks xmlns:a="http://schemas.openxmlformats.org/drawingml/2006/main" noGrp="1"/>
          </p:cNvSpPr>
          <p:nvPr/>
        </p:nvSpPr>
        <p:spPr>
          <a:xfrm xmlns:a="http://schemas.openxmlformats.org/drawingml/2006/main">
            <a:off x="609600" y="600075"/>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00" b="1" i="0">
                <a:solidFill>
                  <a:srgbClr val="102A43"/>
                </a:solidFill>
                <a:latin typeface="Aptos"/>
                <a:ea typeface="Aptos"/>
                <a:cs typeface="Aptos"/>
              </a:defRPr>
            </a:pPr>
            <a:r>
              <a:rPr sz="3000" b="1" i="0">
                <a:solidFill>
                  <a:srgbClr val="102A43"/>
                </a:solidFill>
                <a:latin typeface="Aptos"/>
                <a:ea typeface="Aptos"/>
                <a:cs typeface="Aptos"/>
              </a:rPr>
              <a:t>La experiencia peruana formula la pregunta; la teoría la generaliza</a:t>
            </a:r>
          </a:p>
        </p:txBody>
      </p:sp>
      <p:sp>
        <p:nvSpPr>
          <p:cNvPr id="3" name="">
            <a:extLst xmlns:a="http://schemas.openxmlformats.org/drawingml/2006/main">
              <a:ext uri="{FF2B5EF4-FFF2-40B4-BE49-F238E27FC236}">
                <a16:creationId xmlns:a16="http://schemas.microsoft.com/office/drawing/2014/main" id="{B01DA9ED-D525-4886-A6E3-81D924B17F87}"/>
              </a:ext>
            </a:extLst>
          </p:cNvPr>
          <p:cNvSpPr>
            <a:spLocks xmlns:a="http://schemas.openxmlformats.org/drawingml/2006/main" noGrp="1"/>
          </p:cNvSpPr>
          <p:nvPr/>
        </p:nvSpPr>
        <p:spPr>
          <a:xfrm xmlns:a="http://schemas.openxmlformats.org/drawingml/2006/main">
            <a:off x="609600" y="1209675"/>
            <a:ext cx="10972800" cy="9525"/>
          </a:xfrm>
          <a:prstGeom xmlns:a="http://schemas.openxmlformats.org/drawingml/2006/main" prst="line">
            <a:avLst/>
          </a:prstGeom>
          <a:noFill xmlns:a="http://schemas.openxmlformats.org/drawingml/2006/main"/>
          <a:ln xmlns:a="http://schemas.openxmlformats.org/drawingml/2006/main" w="19050">
            <a:solidFill>
              <a:srgbClr val="E8DED0"/>
            </a:solidFill>
            <a:prstDash val="solid"/>
          </a:ln>
        </p:spPr>
      </p:sp>
      <p:sp>
        <p:nvSpPr>
          <p:cNvPr id="4" name="">
            <a:extLst xmlns:a="http://schemas.openxmlformats.org/drawingml/2006/main">
              <a:ext uri="{FF2B5EF4-FFF2-40B4-BE49-F238E27FC236}">
                <a16:creationId xmlns:a16="http://schemas.microsoft.com/office/drawing/2014/main" id="{45069206-46E6-44CD-91CD-536D4835DCDD}"/>
              </a:ext>
            </a:extLst>
          </p:cNvPr>
          <p:cNvSpPr>
            <a:spLocks xmlns:a="http://schemas.openxmlformats.org/drawingml/2006/main" noGrp="1"/>
          </p:cNvSpPr>
          <p:nvPr/>
        </p:nvSpPr>
        <p:spPr>
          <a:xfrm xmlns:a="http://schemas.openxmlformats.org/drawingml/2006/main">
            <a:off x="11144250" y="32385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i="0">
                <a:solidFill>
                  <a:srgbClr val="65717D"/>
                </a:solidFill>
                <a:latin typeface="Aptos"/>
                <a:ea typeface="Aptos"/>
                <a:cs typeface="Aptos"/>
              </a:defRPr>
            </a:pPr>
            <a:r>
              <a:rPr sz="1125" b="1" i="0">
                <a:solidFill>
                  <a:srgbClr val="65717D"/>
                </a:solidFill>
                <a:latin typeface="Aptos"/>
                <a:ea typeface="Aptos"/>
                <a:cs typeface="Aptos"/>
              </a:rPr>
              <a:t>05</a:t>
            </a:r>
          </a:p>
        </p:txBody>
      </p:sp>
      <p:sp>
        <p:nvSpPr>
          <p:cNvPr id="5" name="">
            <a:extLst xmlns:a="http://schemas.openxmlformats.org/drawingml/2006/main">
              <a:ext uri="{FF2B5EF4-FFF2-40B4-BE49-F238E27FC236}">
                <a16:creationId xmlns:a16="http://schemas.microsoft.com/office/drawing/2014/main" id="{A766F335-D33D-4C54-8A4A-2B415CEAE657}"/>
              </a:ext>
            </a:extLst>
          </p:cNvPr>
          <p:cNvSpPr>
            <a:spLocks xmlns:a="http://schemas.openxmlformats.org/drawingml/2006/main" noGrp="1"/>
          </p:cNvSpPr>
          <p:nvPr/>
        </p:nvSpPr>
        <p:spPr>
          <a:xfrm xmlns:a="http://schemas.openxmlformats.org/drawingml/2006/main">
            <a:off x="857250" y="3190875"/>
            <a:ext cx="10287000" cy="9525"/>
          </a:xfrm>
          <a:prstGeom xmlns:a="http://schemas.openxmlformats.org/drawingml/2006/main" prst="line">
            <a:avLst/>
          </a:prstGeom>
          <a:noFill xmlns:a="http://schemas.openxmlformats.org/drawingml/2006/main"/>
          <a:ln xmlns:a="http://schemas.openxmlformats.org/drawingml/2006/main" w="38100">
            <a:solidFill>
              <a:srgbClr val="102A43"/>
            </a:solidFill>
            <a:prstDash val="solid"/>
          </a:ln>
        </p:spPr>
      </p:sp>
      <p:sp>
        <p:nvSpPr>
          <p:cNvPr id="6" name="">
            <a:extLst xmlns:a="http://schemas.openxmlformats.org/drawingml/2006/main">
              <a:ext uri="{FF2B5EF4-FFF2-40B4-BE49-F238E27FC236}">
                <a16:creationId xmlns:a16="http://schemas.microsoft.com/office/drawing/2014/main" id="{B6BA7163-5C04-4714-9445-05E50DCC25AE}"/>
              </a:ext>
            </a:extLst>
          </p:cNvPr>
          <p:cNvSpPr>
            <a:spLocks xmlns:a="http://schemas.openxmlformats.org/drawingml/2006/main" noGrp="1"/>
          </p:cNvSpPr>
          <p:nvPr/>
        </p:nvSpPr>
        <p:spPr>
          <a:xfrm xmlns:a="http://schemas.openxmlformats.org/drawingml/2006/main">
            <a:off x="1000125" y="3048000"/>
            <a:ext cx="285750" cy="285750"/>
          </a:xfrm>
          <a:prstGeom xmlns:a="http://schemas.openxmlformats.org/drawingml/2006/main" prst="ellipse">
            <a:avLst/>
          </a:prstGeom>
          <a:solidFill xmlns:a="http://schemas.openxmlformats.org/drawingml/2006/main">
            <a:srgbClr val="102A43"/>
          </a:solidFill>
          <a:ln xmlns:a="http://schemas.openxmlformats.org/drawingml/2006/main" w="28575">
            <a:solidFill>
              <a:srgbClr val="F7F3EC"/>
            </a:solidFill>
            <a:prstDash val="solid"/>
          </a:ln>
        </p:spPr>
      </p:sp>
      <p:sp>
        <p:nvSpPr>
          <p:cNvPr id="7" name="">
            <a:extLst xmlns:a="http://schemas.openxmlformats.org/drawingml/2006/main">
              <a:ext uri="{FF2B5EF4-FFF2-40B4-BE49-F238E27FC236}">
                <a16:creationId xmlns:a16="http://schemas.microsoft.com/office/drawing/2014/main" id="{AB762CE0-0FEC-4C0A-AF89-B50D3CB561EA}"/>
              </a:ext>
            </a:extLst>
          </p:cNvPr>
          <p:cNvSpPr>
            <a:spLocks xmlns:a="http://schemas.openxmlformats.org/drawingml/2006/main" noGrp="1"/>
          </p:cNvSpPr>
          <p:nvPr/>
        </p:nvSpPr>
        <p:spPr>
          <a:xfrm xmlns:a="http://schemas.openxmlformats.org/drawingml/2006/main">
            <a:off x="1143000" y="2333625"/>
            <a:ext cx="9525" cy="714375"/>
          </a:xfrm>
          <a:prstGeom xmlns:a="http://schemas.openxmlformats.org/drawingml/2006/main" prst="line">
            <a:avLst/>
          </a:prstGeom>
          <a:noFill xmlns:a="http://schemas.openxmlformats.org/drawingml/2006/main"/>
          <a:ln xmlns:a="http://schemas.openxmlformats.org/drawingml/2006/main" w="19050">
            <a:solidFill>
              <a:srgbClr val="DCE4E8"/>
            </a:solidFill>
            <a:prstDash val="solid"/>
          </a:ln>
        </p:spPr>
      </p:sp>
      <p:sp>
        <p:nvSpPr>
          <p:cNvPr id="8" name="">
            <a:extLst xmlns:a="http://schemas.openxmlformats.org/drawingml/2006/main">
              <a:ext uri="{FF2B5EF4-FFF2-40B4-BE49-F238E27FC236}">
                <a16:creationId xmlns:a16="http://schemas.microsoft.com/office/drawing/2014/main" id="{0F4CAFB0-B180-46F3-BBE4-DF4AA6874FA6}"/>
              </a:ext>
            </a:extLst>
          </p:cNvPr>
          <p:cNvSpPr>
            <a:spLocks xmlns:a="http://schemas.openxmlformats.org/drawingml/2006/main" noGrp="1"/>
          </p:cNvSpPr>
          <p:nvPr/>
        </p:nvSpPr>
        <p:spPr>
          <a:xfrm xmlns:a="http://schemas.openxmlformats.org/drawingml/2006/main">
            <a:off x="762000" y="1657350"/>
            <a:ext cx="95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725" b="1" i="0">
                <a:solidFill>
                  <a:srgbClr val="102A43"/>
                </a:solidFill>
                <a:latin typeface="Aptos"/>
                <a:ea typeface="Aptos"/>
                <a:cs typeface="Aptos"/>
              </a:defRPr>
            </a:pPr>
            <a:r>
              <a:rPr sz="1725" b="1" i="0">
                <a:solidFill>
                  <a:srgbClr val="102A43"/>
                </a:solidFill>
                <a:latin typeface="Aptos"/>
                <a:ea typeface="Aptos"/>
                <a:cs typeface="Aptos"/>
              </a:rPr>
              <a:t>1992</a:t>
            </a:r>
          </a:p>
        </p:txBody>
      </p:sp>
      <p:sp>
        <p:nvSpPr>
          <p:cNvPr id="9" name="">
            <a:extLst xmlns:a="http://schemas.openxmlformats.org/drawingml/2006/main">
              <a:ext uri="{FF2B5EF4-FFF2-40B4-BE49-F238E27FC236}">
                <a16:creationId xmlns:a16="http://schemas.microsoft.com/office/drawing/2014/main" id="{EBDC5B7E-CB0E-4B76-81BB-C1A12ECE6951}"/>
              </a:ext>
            </a:extLst>
          </p:cNvPr>
          <p:cNvSpPr>
            <a:spLocks xmlns:a="http://schemas.openxmlformats.org/drawingml/2006/main" noGrp="1"/>
          </p:cNvSpPr>
          <p:nvPr/>
        </p:nvSpPr>
        <p:spPr>
          <a:xfrm xmlns:a="http://schemas.openxmlformats.org/drawingml/2006/main">
            <a:off x="381000" y="2000250"/>
            <a:ext cx="1676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i="0">
                <a:solidFill>
                  <a:srgbClr val="17212B"/>
                </a:solidFill>
                <a:latin typeface="Aptos"/>
                <a:ea typeface="Aptos"/>
                <a:cs typeface="Aptos"/>
              </a:defRPr>
            </a:pPr>
            <a:r>
              <a:rPr sz="1275" b="1" i="0">
                <a:solidFill>
                  <a:srgbClr val="17212B"/>
                </a:solidFill>
                <a:latin typeface="Aptos"/>
                <a:ea typeface="Aptos"/>
                <a:cs typeface="Aptos"/>
              </a:rPr>
              <a:t>Encaje por moneda</a:t>
            </a:r>
          </a:p>
        </p:txBody>
      </p:sp>
      <p:sp>
        <p:nvSpPr>
          <p:cNvPr id="10" name="">
            <a:extLst xmlns:a="http://schemas.openxmlformats.org/drawingml/2006/main">
              <a:ext uri="{FF2B5EF4-FFF2-40B4-BE49-F238E27FC236}">
                <a16:creationId xmlns:a16="http://schemas.microsoft.com/office/drawing/2014/main" id="{62D5979C-90EF-4AE6-8516-B727617EFF88}"/>
              </a:ext>
            </a:extLst>
          </p:cNvPr>
          <p:cNvSpPr>
            <a:spLocks xmlns:a="http://schemas.openxmlformats.org/drawingml/2006/main" noGrp="1"/>
          </p:cNvSpPr>
          <p:nvPr/>
        </p:nvSpPr>
        <p:spPr>
          <a:xfrm xmlns:a="http://schemas.openxmlformats.org/drawingml/2006/main">
            <a:off x="381000" y="2381250"/>
            <a:ext cx="1676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i="0">
                <a:solidFill>
                  <a:srgbClr val="65717D"/>
                </a:solidFill>
                <a:latin typeface="Aptos"/>
                <a:ea typeface="Aptos"/>
                <a:cs typeface="Aptos"/>
              </a:defRPr>
            </a:pPr>
            <a:r>
              <a:rPr sz="1125" b="0" i="0">
                <a:solidFill>
                  <a:srgbClr val="65717D"/>
                </a:solidFill>
                <a:latin typeface="Aptos"/>
                <a:ea typeface="Aptos"/>
                <a:cs typeface="Aptos"/>
              </a:rPr>
              <a:t>BCRP</a:t>
            </a:r>
          </a:p>
        </p:txBody>
      </p:sp>
      <p:sp>
        <p:nvSpPr>
          <p:cNvPr id="11" name="">
            <a:extLst xmlns:a="http://schemas.openxmlformats.org/drawingml/2006/main">
              <a:ext uri="{FF2B5EF4-FFF2-40B4-BE49-F238E27FC236}">
                <a16:creationId xmlns:a16="http://schemas.microsoft.com/office/drawing/2014/main" id="{029D8D65-A443-45D0-B2B5-8E38538F581C}"/>
              </a:ext>
            </a:extLst>
          </p:cNvPr>
          <p:cNvSpPr>
            <a:spLocks xmlns:a="http://schemas.openxmlformats.org/drawingml/2006/main" noGrp="1"/>
          </p:cNvSpPr>
          <p:nvPr/>
        </p:nvSpPr>
        <p:spPr>
          <a:xfrm xmlns:a="http://schemas.openxmlformats.org/drawingml/2006/main">
            <a:off x="2876550" y="3048000"/>
            <a:ext cx="285750" cy="285750"/>
          </a:xfrm>
          <a:prstGeom xmlns:a="http://schemas.openxmlformats.org/drawingml/2006/main" prst="ellipse">
            <a:avLst/>
          </a:prstGeom>
          <a:solidFill xmlns:a="http://schemas.openxmlformats.org/drawingml/2006/main">
            <a:srgbClr val="102A43"/>
          </a:solidFill>
          <a:ln xmlns:a="http://schemas.openxmlformats.org/drawingml/2006/main" w="28575">
            <a:solidFill>
              <a:srgbClr val="F7F3EC"/>
            </a:solidFill>
            <a:prstDash val="solid"/>
          </a:ln>
        </p:spPr>
      </p:sp>
      <p:sp>
        <p:nvSpPr>
          <p:cNvPr id="12" name="">
            <a:extLst xmlns:a="http://schemas.openxmlformats.org/drawingml/2006/main">
              <a:ext uri="{FF2B5EF4-FFF2-40B4-BE49-F238E27FC236}">
                <a16:creationId xmlns:a16="http://schemas.microsoft.com/office/drawing/2014/main" id="{F85B802B-249C-4501-B26D-4C51C4062643}"/>
              </a:ext>
            </a:extLst>
          </p:cNvPr>
          <p:cNvSpPr>
            <a:spLocks xmlns:a="http://schemas.openxmlformats.org/drawingml/2006/main" noGrp="1"/>
          </p:cNvSpPr>
          <p:nvPr/>
        </p:nvSpPr>
        <p:spPr>
          <a:xfrm xmlns:a="http://schemas.openxmlformats.org/drawingml/2006/main">
            <a:off x="3019425" y="3333750"/>
            <a:ext cx="9525" cy="723900"/>
          </a:xfrm>
          <a:prstGeom xmlns:a="http://schemas.openxmlformats.org/drawingml/2006/main" prst="line">
            <a:avLst/>
          </a:prstGeom>
          <a:noFill xmlns:a="http://schemas.openxmlformats.org/drawingml/2006/main"/>
          <a:ln xmlns:a="http://schemas.openxmlformats.org/drawingml/2006/main" w="19050">
            <a:solidFill>
              <a:srgbClr val="DCE4E8"/>
            </a:solidFill>
            <a:prstDash val="solid"/>
          </a:ln>
        </p:spPr>
      </p:sp>
      <p:sp>
        <p:nvSpPr>
          <p:cNvPr id="13" name="">
            <a:extLst xmlns:a="http://schemas.openxmlformats.org/drawingml/2006/main">
              <a:ext uri="{FF2B5EF4-FFF2-40B4-BE49-F238E27FC236}">
                <a16:creationId xmlns:a16="http://schemas.microsoft.com/office/drawing/2014/main" id="{8043F72F-AF7A-4765-BD66-B7E9D70915C9}"/>
              </a:ext>
            </a:extLst>
          </p:cNvPr>
          <p:cNvSpPr>
            <a:spLocks xmlns:a="http://schemas.openxmlformats.org/drawingml/2006/main" noGrp="1"/>
          </p:cNvSpPr>
          <p:nvPr/>
        </p:nvSpPr>
        <p:spPr>
          <a:xfrm xmlns:a="http://schemas.openxmlformats.org/drawingml/2006/main">
            <a:off x="2581275" y="4162425"/>
            <a:ext cx="1104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725" b="1" i="0">
                <a:solidFill>
                  <a:srgbClr val="102A43"/>
                </a:solidFill>
                <a:latin typeface="Aptos"/>
                <a:ea typeface="Aptos"/>
                <a:cs typeface="Aptos"/>
              </a:defRPr>
            </a:pPr>
            <a:r>
              <a:rPr sz="1725" b="1" i="0">
                <a:solidFill>
                  <a:srgbClr val="102A43"/>
                </a:solidFill>
                <a:latin typeface="Aptos"/>
                <a:ea typeface="Aptos"/>
                <a:cs typeface="Aptos"/>
              </a:rPr>
              <a:t>2004</a:t>
            </a:r>
          </a:p>
        </p:txBody>
      </p:sp>
      <p:sp>
        <p:nvSpPr>
          <p:cNvPr id="14" name="">
            <a:extLst xmlns:a="http://schemas.openxmlformats.org/drawingml/2006/main">
              <a:ext uri="{FF2B5EF4-FFF2-40B4-BE49-F238E27FC236}">
                <a16:creationId xmlns:a16="http://schemas.microsoft.com/office/drawing/2014/main" id="{2C4EC3A6-7598-4106-9600-613692EABD9C}"/>
              </a:ext>
            </a:extLst>
          </p:cNvPr>
          <p:cNvSpPr>
            <a:spLocks xmlns:a="http://schemas.openxmlformats.org/drawingml/2006/main" noGrp="1"/>
          </p:cNvSpPr>
          <p:nvPr/>
        </p:nvSpPr>
        <p:spPr>
          <a:xfrm xmlns:a="http://schemas.openxmlformats.org/drawingml/2006/main">
            <a:off x="2162175" y="4524375"/>
            <a:ext cx="1866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i="0">
                <a:solidFill>
                  <a:srgbClr val="17212B"/>
                </a:solidFill>
                <a:latin typeface="Aptos"/>
                <a:ea typeface="Aptos"/>
                <a:cs typeface="Aptos"/>
              </a:defRPr>
            </a:pPr>
            <a:r>
              <a:rPr sz="1275" b="1" i="0">
                <a:solidFill>
                  <a:srgbClr val="17212B"/>
                </a:solidFill>
                <a:latin typeface="Aptos"/>
                <a:ea typeface="Aptos"/>
                <a:cs typeface="Aptos"/>
              </a:rPr>
              <a:t>Pregunta fundacional</a:t>
            </a:r>
          </a:p>
        </p:txBody>
      </p:sp>
      <p:sp>
        <p:nvSpPr>
          <p:cNvPr id="15" name="">
            <a:extLst xmlns:a="http://schemas.openxmlformats.org/drawingml/2006/main">
              <a:ext uri="{FF2B5EF4-FFF2-40B4-BE49-F238E27FC236}">
                <a16:creationId xmlns:a16="http://schemas.microsoft.com/office/drawing/2014/main" id="{0E87B5F0-075D-4EAE-8B2D-87C4B6CE9641}"/>
              </a:ext>
            </a:extLst>
          </p:cNvPr>
          <p:cNvSpPr>
            <a:spLocks xmlns:a="http://schemas.openxmlformats.org/drawingml/2006/main" noGrp="1"/>
          </p:cNvSpPr>
          <p:nvPr/>
        </p:nvSpPr>
        <p:spPr>
          <a:xfrm xmlns:a="http://schemas.openxmlformats.org/drawingml/2006/main">
            <a:off x="2162175" y="4905375"/>
            <a:ext cx="1866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i="0">
                <a:solidFill>
                  <a:srgbClr val="65717D"/>
                </a:solidFill>
                <a:latin typeface="Aptos"/>
                <a:ea typeface="Aptos"/>
                <a:cs typeface="Aptos"/>
              </a:defRPr>
            </a:pPr>
            <a:r>
              <a:rPr sz="1125" b="0" i="0">
                <a:solidFill>
                  <a:srgbClr val="65717D"/>
                </a:solidFill>
                <a:latin typeface="Aptos"/>
                <a:ea typeface="Aptos"/>
                <a:cs typeface="Aptos"/>
              </a:rPr>
              <a:t>BCRP y modelos</a:t>
            </a:r>
          </a:p>
        </p:txBody>
      </p:sp>
      <p:sp>
        <p:nvSpPr>
          <p:cNvPr id="16" name="">
            <a:extLst xmlns:a="http://schemas.openxmlformats.org/drawingml/2006/main">
              <a:ext uri="{FF2B5EF4-FFF2-40B4-BE49-F238E27FC236}">
                <a16:creationId xmlns:a16="http://schemas.microsoft.com/office/drawing/2014/main" id="{1508D4AA-4097-403A-9A18-C9544CDEF5B1}"/>
              </a:ext>
            </a:extLst>
          </p:cNvPr>
          <p:cNvSpPr>
            <a:spLocks xmlns:a="http://schemas.openxmlformats.org/drawingml/2006/main" noGrp="1"/>
          </p:cNvSpPr>
          <p:nvPr/>
        </p:nvSpPr>
        <p:spPr>
          <a:xfrm xmlns:a="http://schemas.openxmlformats.org/drawingml/2006/main">
            <a:off x="4752975" y="3048000"/>
            <a:ext cx="285750" cy="285750"/>
          </a:xfrm>
          <a:prstGeom xmlns:a="http://schemas.openxmlformats.org/drawingml/2006/main" prst="ellipse">
            <a:avLst/>
          </a:prstGeom>
          <a:solidFill xmlns:a="http://schemas.openxmlformats.org/drawingml/2006/main">
            <a:srgbClr val="102A43"/>
          </a:solidFill>
          <a:ln xmlns:a="http://schemas.openxmlformats.org/drawingml/2006/main" w="28575">
            <a:solidFill>
              <a:srgbClr val="F7F3EC"/>
            </a:solidFill>
            <a:prstDash val="solid"/>
          </a:ln>
        </p:spPr>
      </p:sp>
      <p:sp>
        <p:nvSpPr>
          <p:cNvPr id="17" name="">
            <a:extLst xmlns:a="http://schemas.openxmlformats.org/drawingml/2006/main">
              <a:ext uri="{FF2B5EF4-FFF2-40B4-BE49-F238E27FC236}">
                <a16:creationId xmlns:a16="http://schemas.microsoft.com/office/drawing/2014/main" id="{FEE624A2-8164-44B8-A2D9-AE65A1AF4654}"/>
              </a:ext>
            </a:extLst>
          </p:cNvPr>
          <p:cNvSpPr>
            <a:spLocks xmlns:a="http://schemas.openxmlformats.org/drawingml/2006/main" noGrp="1"/>
          </p:cNvSpPr>
          <p:nvPr/>
        </p:nvSpPr>
        <p:spPr>
          <a:xfrm xmlns:a="http://schemas.openxmlformats.org/drawingml/2006/main">
            <a:off x="4895850" y="2333625"/>
            <a:ext cx="9525" cy="714375"/>
          </a:xfrm>
          <a:prstGeom xmlns:a="http://schemas.openxmlformats.org/drawingml/2006/main" prst="line">
            <a:avLst/>
          </a:prstGeom>
          <a:noFill xmlns:a="http://schemas.openxmlformats.org/drawingml/2006/main"/>
          <a:ln xmlns:a="http://schemas.openxmlformats.org/drawingml/2006/main" w="19050">
            <a:solidFill>
              <a:srgbClr val="DCE4E8"/>
            </a:solidFill>
            <a:prstDash val="solid"/>
          </a:ln>
        </p:spPr>
      </p:sp>
      <p:sp>
        <p:nvSpPr>
          <p:cNvPr id="18" name="">
            <a:extLst xmlns:a="http://schemas.openxmlformats.org/drawingml/2006/main">
              <a:ext uri="{FF2B5EF4-FFF2-40B4-BE49-F238E27FC236}">
                <a16:creationId xmlns:a16="http://schemas.microsoft.com/office/drawing/2014/main" id="{D7EA28C3-0ADB-4852-96D3-BBA4CC036294}"/>
              </a:ext>
            </a:extLst>
          </p:cNvPr>
          <p:cNvSpPr>
            <a:spLocks xmlns:a="http://schemas.openxmlformats.org/drawingml/2006/main" noGrp="1"/>
          </p:cNvSpPr>
          <p:nvPr/>
        </p:nvSpPr>
        <p:spPr>
          <a:xfrm xmlns:a="http://schemas.openxmlformats.org/drawingml/2006/main">
            <a:off x="4514850" y="1657350"/>
            <a:ext cx="95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725" b="1" i="0">
                <a:solidFill>
                  <a:srgbClr val="102A43"/>
                </a:solidFill>
                <a:latin typeface="Aptos"/>
                <a:ea typeface="Aptos"/>
                <a:cs typeface="Aptos"/>
              </a:defRPr>
            </a:pPr>
            <a:r>
              <a:rPr sz="1725" b="1" i="0">
                <a:solidFill>
                  <a:srgbClr val="102A43"/>
                </a:solidFill>
                <a:latin typeface="Aptos"/>
                <a:ea typeface="Aptos"/>
                <a:cs typeface="Aptos"/>
              </a:rPr>
              <a:t>2008</a:t>
            </a:r>
          </a:p>
        </p:txBody>
      </p:sp>
      <p:sp>
        <p:nvSpPr>
          <p:cNvPr id="19" name="">
            <a:extLst xmlns:a="http://schemas.openxmlformats.org/drawingml/2006/main">
              <a:ext uri="{FF2B5EF4-FFF2-40B4-BE49-F238E27FC236}">
                <a16:creationId xmlns:a16="http://schemas.microsoft.com/office/drawing/2014/main" id="{21C6ABDD-3A3E-41E2-99B6-EEB8FAE88419}"/>
              </a:ext>
            </a:extLst>
          </p:cNvPr>
          <p:cNvSpPr>
            <a:spLocks xmlns:a="http://schemas.openxmlformats.org/drawingml/2006/main" noGrp="1"/>
          </p:cNvSpPr>
          <p:nvPr/>
        </p:nvSpPr>
        <p:spPr>
          <a:xfrm xmlns:a="http://schemas.openxmlformats.org/drawingml/2006/main">
            <a:off x="4133850" y="2000250"/>
            <a:ext cx="1676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i="0">
                <a:solidFill>
                  <a:srgbClr val="17212B"/>
                </a:solidFill>
                <a:latin typeface="Aptos"/>
                <a:ea typeface="Aptos"/>
                <a:cs typeface="Aptos"/>
              </a:defRPr>
            </a:pPr>
            <a:r>
              <a:rPr sz="1275" b="1" i="0">
                <a:solidFill>
                  <a:srgbClr val="17212B"/>
                </a:solidFill>
                <a:latin typeface="Aptos"/>
                <a:ea typeface="Aptos"/>
                <a:cs typeface="Aptos"/>
              </a:rPr>
              <a:t>Encajes antes que tasa</a:t>
            </a:r>
          </a:p>
        </p:txBody>
      </p:sp>
      <p:sp>
        <p:nvSpPr>
          <p:cNvPr id="20" name="">
            <a:extLst xmlns:a="http://schemas.openxmlformats.org/drawingml/2006/main">
              <a:ext uri="{FF2B5EF4-FFF2-40B4-BE49-F238E27FC236}">
                <a16:creationId xmlns:a16="http://schemas.microsoft.com/office/drawing/2014/main" id="{687FF58E-8728-4B5A-BE47-BAE7A56F056F}"/>
              </a:ext>
            </a:extLst>
          </p:cNvPr>
          <p:cNvSpPr>
            <a:spLocks xmlns:a="http://schemas.openxmlformats.org/drawingml/2006/main" noGrp="1"/>
          </p:cNvSpPr>
          <p:nvPr/>
        </p:nvSpPr>
        <p:spPr>
          <a:xfrm xmlns:a="http://schemas.openxmlformats.org/drawingml/2006/main">
            <a:off x="4133850" y="2381250"/>
            <a:ext cx="1676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i="0">
                <a:solidFill>
                  <a:srgbClr val="65717D"/>
                </a:solidFill>
                <a:latin typeface="Aptos"/>
                <a:ea typeface="Aptos"/>
                <a:cs typeface="Aptos"/>
              </a:defRPr>
            </a:pPr>
            <a:r>
              <a:rPr sz="1125" b="0" i="0">
                <a:solidFill>
                  <a:srgbClr val="65717D"/>
                </a:solidFill>
                <a:latin typeface="Aptos"/>
                <a:ea typeface="Aptos"/>
                <a:cs typeface="Aptos"/>
              </a:rPr>
              <a:t>crisis global</a:t>
            </a:r>
          </a:p>
        </p:txBody>
      </p:sp>
      <p:sp>
        <p:nvSpPr>
          <p:cNvPr id="21" name="">
            <a:extLst xmlns:a="http://schemas.openxmlformats.org/drawingml/2006/main">
              <a:ext uri="{FF2B5EF4-FFF2-40B4-BE49-F238E27FC236}">
                <a16:creationId xmlns:a16="http://schemas.microsoft.com/office/drawing/2014/main" id="{07B6558A-CE40-46B6-8127-A54F48E5EA7C}"/>
              </a:ext>
            </a:extLst>
          </p:cNvPr>
          <p:cNvSpPr>
            <a:spLocks xmlns:a="http://schemas.openxmlformats.org/drawingml/2006/main" noGrp="1"/>
          </p:cNvSpPr>
          <p:nvPr/>
        </p:nvSpPr>
        <p:spPr>
          <a:xfrm xmlns:a="http://schemas.openxmlformats.org/drawingml/2006/main">
            <a:off x="6629400" y="3048000"/>
            <a:ext cx="285750" cy="285750"/>
          </a:xfrm>
          <a:prstGeom xmlns:a="http://schemas.openxmlformats.org/drawingml/2006/main" prst="ellipse">
            <a:avLst/>
          </a:prstGeom>
          <a:solidFill xmlns:a="http://schemas.openxmlformats.org/drawingml/2006/main">
            <a:srgbClr val="A63D40"/>
          </a:solidFill>
          <a:ln xmlns:a="http://schemas.openxmlformats.org/drawingml/2006/main" w="28575">
            <a:solidFill>
              <a:srgbClr val="F7F3EC"/>
            </a:solidFill>
            <a:prstDash val="solid"/>
          </a:ln>
        </p:spPr>
      </p:sp>
      <p:sp>
        <p:nvSpPr>
          <p:cNvPr id="22" name="">
            <a:extLst xmlns:a="http://schemas.openxmlformats.org/drawingml/2006/main">
              <a:ext uri="{FF2B5EF4-FFF2-40B4-BE49-F238E27FC236}">
                <a16:creationId xmlns:a16="http://schemas.microsoft.com/office/drawing/2014/main" id="{6FA87566-6FC2-4447-8EAC-48EFEDE8B27C}"/>
              </a:ext>
            </a:extLst>
          </p:cNvPr>
          <p:cNvSpPr>
            <a:spLocks xmlns:a="http://schemas.openxmlformats.org/drawingml/2006/main" noGrp="1"/>
          </p:cNvSpPr>
          <p:nvPr/>
        </p:nvSpPr>
        <p:spPr>
          <a:xfrm xmlns:a="http://schemas.openxmlformats.org/drawingml/2006/main">
            <a:off x="6772275" y="3333750"/>
            <a:ext cx="9525" cy="723900"/>
          </a:xfrm>
          <a:prstGeom xmlns:a="http://schemas.openxmlformats.org/drawingml/2006/main" prst="line">
            <a:avLst/>
          </a:prstGeom>
          <a:noFill xmlns:a="http://schemas.openxmlformats.org/drawingml/2006/main"/>
          <a:ln xmlns:a="http://schemas.openxmlformats.org/drawingml/2006/main" w="19050">
            <a:solidFill>
              <a:srgbClr val="DCE4E8"/>
            </a:solidFill>
            <a:prstDash val="solid"/>
          </a:ln>
        </p:spPr>
      </p:sp>
      <p:sp>
        <p:nvSpPr>
          <p:cNvPr id="23" name="">
            <a:extLst xmlns:a="http://schemas.openxmlformats.org/drawingml/2006/main">
              <a:ext uri="{FF2B5EF4-FFF2-40B4-BE49-F238E27FC236}">
                <a16:creationId xmlns:a16="http://schemas.microsoft.com/office/drawing/2014/main" id="{28FD5946-3DDF-4058-AA4B-64B6DF940961}"/>
              </a:ext>
            </a:extLst>
          </p:cNvPr>
          <p:cNvSpPr>
            <a:spLocks xmlns:a="http://schemas.openxmlformats.org/drawingml/2006/main" noGrp="1"/>
          </p:cNvSpPr>
          <p:nvPr/>
        </p:nvSpPr>
        <p:spPr>
          <a:xfrm xmlns:a="http://schemas.openxmlformats.org/drawingml/2006/main">
            <a:off x="6334125" y="4162425"/>
            <a:ext cx="1104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725" b="1" i="0">
                <a:solidFill>
                  <a:srgbClr val="A63D40"/>
                </a:solidFill>
                <a:latin typeface="Aptos"/>
                <a:ea typeface="Aptos"/>
                <a:cs typeface="Aptos"/>
              </a:defRPr>
            </a:pPr>
            <a:r>
              <a:rPr sz="1725" b="1" i="0">
                <a:solidFill>
                  <a:srgbClr val="A63D40"/>
                </a:solidFill>
                <a:latin typeface="Aptos"/>
                <a:ea typeface="Aptos"/>
                <a:cs typeface="Aptos"/>
              </a:rPr>
              <a:t>2013</a:t>
            </a:r>
          </a:p>
        </p:txBody>
      </p:sp>
      <p:sp>
        <p:nvSpPr>
          <p:cNvPr id="24" name="">
            <a:extLst xmlns:a="http://schemas.openxmlformats.org/drawingml/2006/main">
              <a:ext uri="{FF2B5EF4-FFF2-40B4-BE49-F238E27FC236}">
                <a16:creationId xmlns:a16="http://schemas.microsoft.com/office/drawing/2014/main" id="{77FE00FA-49EA-4825-9B4D-ED048D15A7D7}"/>
              </a:ext>
            </a:extLst>
          </p:cNvPr>
          <p:cNvSpPr>
            <a:spLocks xmlns:a="http://schemas.openxmlformats.org/drawingml/2006/main" noGrp="1"/>
          </p:cNvSpPr>
          <p:nvPr/>
        </p:nvSpPr>
        <p:spPr>
          <a:xfrm xmlns:a="http://schemas.openxmlformats.org/drawingml/2006/main">
            <a:off x="5915025" y="4524375"/>
            <a:ext cx="1866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i="0">
                <a:solidFill>
                  <a:srgbClr val="17212B"/>
                </a:solidFill>
                <a:latin typeface="Aptos"/>
                <a:ea typeface="Aptos"/>
                <a:cs typeface="Aptos"/>
              </a:defRPr>
            </a:pPr>
            <a:r>
              <a:rPr sz="1275" b="1" i="0">
                <a:solidFill>
                  <a:srgbClr val="17212B"/>
                </a:solidFill>
                <a:latin typeface="Aptos"/>
                <a:ea typeface="Aptos"/>
                <a:cs typeface="Aptos"/>
              </a:rPr>
              <a:t>Primera versión</a:t>
            </a:r>
          </a:p>
        </p:txBody>
      </p:sp>
      <p:sp>
        <p:nvSpPr>
          <p:cNvPr id="25" name="">
            <a:extLst xmlns:a="http://schemas.openxmlformats.org/drawingml/2006/main">
              <a:ext uri="{FF2B5EF4-FFF2-40B4-BE49-F238E27FC236}">
                <a16:creationId xmlns:a16="http://schemas.microsoft.com/office/drawing/2014/main" id="{1E5089E8-DB4B-4A52-A06D-3F4FAC69D7FB}"/>
              </a:ext>
            </a:extLst>
          </p:cNvPr>
          <p:cNvSpPr>
            <a:spLocks xmlns:a="http://schemas.openxmlformats.org/drawingml/2006/main" noGrp="1"/>
          </p:cNvSpPr>
          <p:nvPr/>
        </p:nvSpPr>
        <p:spPr>
          <a:xfrm xmlns:a="http://schemas.openxmlformats.org/drawingml/2006/main">
            <a:off x="5915025" y="4905375"/>
            <a:ext cx="1866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i="0">
                <a:solidFill>
                  <a:srgbClr val="65717D"/>
                </a:solidFill>
                <a:latin typeface="Aptos"/>
                <a:ea typeface="Aptos"/>
                <a:cs typeface="Aptos"/>
              </a:defRPr>
            </a:pPr>
            <a:r>
              <a:rPr sz="1125" b="0" i="0">
                <a:solidFill>
                  <a:srgbClr val="65717D"/>
                </a:solidFill>
                <a:latin typeface="Aptos"/>
                <a:ea typeface="Aptos"/>
                <a:cs typeface="Aptos"/>
              </a:rPr>
              <a:t>modelo bancario</a:t>
            </a:r>
          </a:p>
        </p:txBody>
      </p:sp>
      <p:sp>
        <p:nvSpPr>
          <p:cNvPr id="26" name="">
            <a:extLst xmlns:a="http://schemas.openxmlformats.org/drawingml/2006/main">
              <a:ext uri="{FF2B5EF4-FFF2-40B4-BE49-F238E27FC236}">
                <a16:creationId xmlns:a16="http://schemas.microsoft.com/office/drawing/2014/main" id="{3C6CC269-218C-4A21-8600-DA1D74AB821A}"/>
              </a:ext>
            </a:extLst>
          </p:cNvPr>
          <p:cNvSpPr>
            <a:spLocks xmlns:a="http://schemas.openxmlformats.org/drawingml/2006/main" noGrp="1"/>
          </p:cNvSpPr>
          <p:nvPr/>
        </p:nvSpPr>
        <p:spPr>
          <a:xfrm xmlns:a="http://schemas.openxmlformats.org/drawingml/2006/main">
            <a:off x="8505825" y="3048000"/>
            <a:ext cx="285750" cy="285750"/>
          </a:xfrm>
          <a:prstGeom xmlns:a="http://schemas.openxmlformats.org/drawingml/2006/main" prst="ellipse">
            <a:avLst/>
          </a:prstGeom>
          <a:solidFill xmlns:a="http://schemas.openxmlformats.org/drawingml/2006/main">
            <a:srgbClr val="102A43"/>
          </a:solidFill>
          <a:ln xmlns:a="http://schemas.openxmlformats.org/drawingml/2006/main" w="28575">
            <a:solidFill>
              <a:srgbClr val="F7F3EC"/>
            </a:solidFill>
            <a:prstDash val="solid"/>
          </a:ln>
        </p:spPr>
      </p:sp>
      <p:sp>
        <p:nvSpPr>
          <p:cNvPr id="27" name="">
            <a:extLst xmlns:a="http://schemas.openxmlformats.org/drawingml/2006/main">
              <a:ext uri="{FF2B5EF4-FFF2-40B4-BE49-F238E27FC236}">
                <a16:creationId xmlns:a16="http://schemas.microsoft.com/office/drawing/2014/main" id="{8264A411-5304-4C5B-833F-56DE100C3810}"/>
              </a:ext>
            </a:extLst>
          </p:cNvPr>
          <p:cNvSpPr>
            <a:spLocks xmlns:a="http://schemas.openxmlformats.org/drawingml/2006/main" noGrp="1"/>
          </p:cNvSpPr>
          <p:nvPr/>
        </p:nvSpPr>
        <p:spPr>
          <a:xfrm xmlns:a="http://schemas.openxmlformats.org/drawingml/2006/main">
            <a:off x="8648700" y="2333625"/>
            <a:ext cx="9525" cy="714375"/>
          </a:xfrm>
          <a:prstGeom xmlns:a="http://schemas.openxmlformats.org/drawingml/2006/main" prst="line">
            <a:avLst/>
          </a:prstGeom>
          <a:noFill xmlns:a="http://schemas.openxmlformats.org/drawingml/2006/main"/>
          <a:ln xmlns:a="http://schemas.openxmlformats.org/drawingml/2006/main" w="19050">
            <a:solidFill>
              <a:srgbClr val="DCE4E8"/>
            </a:solidFill>
            <a:prstDash val="solid"/>
          </a:ln>
        </p:spPr>
      </p:sp>
      <p:sp>
        <p:nvSpPr>
          <p:cNvPr id="28" name="">
            <a:extLst xmlns:a="http://schemas.openxmlformats.org/drawingml/2006/main">
              <a:ext uri="{FF2B5EF4-FFF2-40B4-BE49-F238E27FC236}">
                <a16:creationId xmlns:a16="http://schemas.microsoft.com/office/drawing/2014/main" id="{FA987753-4DE3-4460-8B8C-342453A6FC0F}"/>
              </a:ext>
            </a:extLst>
          </p:cNvPr>
          <p:cNvSpPr>
            <a:spLocks xmlns:a="http://schemas.openxmlformats.org/drawingml/2006/main" noGrp="1"/>
          </p:cNvSpPr>
          <p:nvPr/>
        </p:nvSpPr>
        <p:spPr>
          <a:xfrm xmlns:a="http://schemas.openxmlformats.org/drawingml/2006/main">
            <a:off x="8267700" y="1657350"/>
            <a:ext cx="95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725" b="1" i="0">
                <a:solidFill>
                  <a:srgbClr val="102A43"/>
                </a:solidFill>
                <a:latin typeface="Aptos"/>
                <a:ea typeface="Aptos"/>
                <a:cs typeface="Aptos"/>
              </a:defRPr>
            </a:pPr>
            <a:r>
              <a:rPr sz="1725" b="1" i="0">
                <a:solidFill>
                  <a:srgbClr val="102A43"/>
                </a:solidFill>
                <a:latin typeface="Aptos"/>
                <a:ea typeface="Aptos"/>
                <a:cs typeface="Aptos"/>
              </a:rPr>
              <a:t>2020</a:t>
            </a:r>
          </a:p>
        </p:txBody>
      </p:sp>
      <p:sp>
        <p:nvSpPr>
          <p:cNvPr id="29" name="">
            <a:extLst xmlns:a="http://schemas.openxmlformats.org/drawingml/2006/main">
              <a:ext uri="{FF2B5EF4-FFF2-40B4-BE49-F238E27FC236}">
                <a16:creationId xmlns:a16="http://schemas.microsoft.com/office/drawing/2014/main" id="{5B4F1D11-6E84-4C70-8D94-384C11BDA628}"/>
              </a:ext>
            </a:extLst>
          </p:cNvPr>
          <p:cNvSpPr>
            <a:spLocks xmlns:a="http://schemas.openxmlformats.org/drawingml/2006/main" noGrp="1"/>
          </p:cNvSpPr>
          <p:nvPr/>
        </p:nvSpPr>
        <p:spPr>
          <a:xfrm xmlns:a="http://schemas.openxmlformats.org/drawingml/2006/main">
            <a:off x="7886700" y="2000250"/>
            <a:ext cx="1676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i="0">
                <a:solidFill>
                  <a:srgbClr val="17212B"/>
                </a:solidFill>
                <a:latin typeface="Aptos"/>
                <a:ea typeface="Aptos"/>
                <a:cs typeface="Aptos"/>
              </a:defRPr>
            </a:pPr>
            <a:r>
              <a:rPr sz="1275" b="1" i="0">
                <a:solidFill>
                  <a:srgbClr val="17212B"/>
                </a:solidFill>
                <a:latin typeface="Aptos"/>
                <a:ea typeface="Aptos"/>
                <a:cs typeface="Aptos"/>
              </a:rPr>
              <a:t>Cadena de pagos</a:t>
            </a:r>
          </a:p>
        </p:txBody>
      </p:sp>
      <p:sp>
        <p:nvSpPr>
          <p:cNvPr id="30" name="">
            <a:extLst xmlns:a="http://schemas.openxmlformats.org/drawingml/2006/main">
              <a:ext uri="{FF2B5EF4-FFF2-40B4-BE49-F238E27FC236}">
                <a16:creationId xmlns:a16="http://schemas.microsoft.com/office/drawing/2014/main" id="{2F9E0D6E-3A8F-4FCD-80A0-103597B43F3C}"/>
              </a:ext>
            </a:extLst>
          </p:cNvPr>
          <p:cNvSpPr>
            <a:spLocks xmlns:a="http://schemas.openxmlformats.org/drawingml/2006/main" noGrp="1"/>
          </p:cNvSpPr>
          <p:nvPr/>
        </p:nvSpPr>
        <p:spPr>
          <a:xfrm xmlns:a="http://schemas.openxmlformats.org/drawingml/2006/main">
            <a:off x="7886700" y="2381250"/>
            <a:ext cx="1676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i="0">
                <a:solidFill>
                  <a:srgbClr val="65717D"/>
                </a:solidFill>
                <a:latin typeface="Aptos"/>
                <a:ea typeface="Aptos"/>
                <a:cs typeface="Aptos"/>
              </a:defRPr>
            </a:pPr>
            <a:r>
              <a:rPr sz="1125" b="0" i="0">
                <a:solidFill>
                  <a:srgbClr val="65717D"/>
                </a:solidFill>
                <a:latin typeface="Aptos"/>
                <a:ea typeface="Aptos"/>
                <a:cs typeface="Aptos"/>
              </a:rPr>
              <a:t>carta COVID</a:t>
            </a:r>
          </a:p>
        </p:txBody>
      </p:sp>
      <p:sp>
        <p:nvSpPr>
          <p:cNvPr id="31" name="">
            <a:extLst xmlns:a="http://schemas.openxmlformats.org/drawingml/2006/main">
              <a:ext uri="{FF2B5EF4-FFF2-40B4-BE49-F238E27FC236}">
                <a16:creationId xmlns:a16="http://schemas.microsoft.com/office/drawing/2014/main" id="{B3FF41F4-A559-4CD1-A8E2-8C5AB8978E72}"/>
              </a:ext>
            </a:extLst>
          </p:cNvPr>
          <p:cNvSpPr>
            <a:spLocks xmlns:a="http://schemas.openxmlformats.org/drawingml/2006/main" noGrp="1"/>
          </p:cNvSpPr>
          <p:nvPr/>
        </p:nvSpPr>
        <p:spPr>
          <a:xfrm xmlns:a="http://schemas.openxmlformats.org/drawingml/2006/main">
            <a:off x="10382250" y="3048000"/>
            <a:ext cx="285750" cy="285750"/>
          </a:xfrm>
          <a:prstGeom xmlns:a="http://schemas.openxmlformats.org/drawingml/2006/main" prst="ellipse">
            <a:avLst/>
          </a:prstGeom>
          <a:solidFill xmlns:a="http://schemas.openxmlformats.org/drawingml/2006/main">
            <a:srgbClr val="102A43"/>
          </a:solidFill>
          <a:ln xmlns:a="http://schemas.openxmlformats.org/drawingml/2006/main" w="28575">
            <a:solidFill>
              <a:srgbClr val="F7F3EC"/>
            </a:solidFill>
            <a:prstDash val="solid"/>
          </a:ln>
        </p:spPr>
      </p:sp>
      <p:sp>
        <p:nvSpPr>
          <p:cNvPr id="32" name="">
            <a:extLst xmlns:a="http://schemas.openxmlformats.org/drawingml/2006/main">
              <a:ext uri="{FF2B5EF4-FFF2-40B4-BE49-F238E27FC236}">
                <a16:creationId xmlns:a16="http://schemas.microsoft.com/office/drawing/2014/main" id="{BACEDDCF-F295-4DEB-8911-36E14E9D55C1}"/>
              </a:ext>
            </a:extLst>
          </p:cNvPr>
          <p:cNvSpPr>
            <a:spLocks xmlns:a="http://schemas.openxmlformats.org/drawingml/2006/main" noGrp="1"/>
          </p:cNvSpPr>
          <p:nvPr/>
        </p:nvSpPr>
        <p:spPr>
          <a:xfrm xmlns:a="http://schemas.openxmlformats.org/drawingml/2006/main">
            <a:off x="10525125" y="3333750"/>
            <a:ext cx="9525" cy="723900"/>
          </a:xfrm>
          <a:prstGeom xmlns:a="http://schemas.openxmlformats.org/drawingml/2006/main" prst="line">
            <a:avLst/>
          </a:prstGeom>
          <a:noFill xmlns:a="http://schemas.openxmlformats.org/drawingml/2006/main"/>
          <a:ln xmlns:a="http://schemas.openxmlformats.org/drawingml/2006/main" w="19050">
            <a:solidFill>
              <a:srgbClr val="DCE4E8"/>
            </a:solidFill>
            <a:prstDash val="solid"/>
          </a:ln>
        </p:spPr>
      </p:sp>
      <p:sp>
        <p:nvSpPr>
          <p:cNvPr id="33" name="">
            <a:extLst xmlns:a="http://schemas.openxmlformats.org/drawingml/2006/main">
              <a:ext uri="{FF2B5EF4-FFF2-40B4-BE49-F238E27FC236}">
                <a16:creationId xmlns:a16="http://schemas.microsoft.com/office/drawing/2014/main" id="{050BE112-2B42-4439-AA7D-72407CB2BEE9}"/>
              </a:ext>
            </a:extLst>
          </p:cNvPr>
          <p:cNvSpPr>
            <a:spLocks xmlns:a="http://schemas.openxmlformats.org/drawingml/2006/main" noGrp="1"/>
          </p:cNvSpPr>
          <p:nvPr/>
        </p:nvSpPr>
        <p:spPr>
          <a:xfrm xmlns:a="http://schemas.openxmlformats.org/drawingml/2006/main">
            <a:off x="10086975" y="4162425"/>
            <a:ext cx="1104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725" b="1" i="0">
                <a:solidFill>
                  <a:srgbClr val="102A43"/>
                </a:solidFill>
                <a:latin typeface="Aptos"/>
                <a:ea typeface="Aptos"/>
                <a:cs typeface="Aptos"/>
              </a:defRPr>
            </a:pPr>
            <a:r>
              <a:rPr sz="1725" b="1" i="0">
                <a:solidFill>
                  <a:srgbClr val="102A43"/>
                </a:solidFill>
                <a:latin typeface="Aptos"/>
                <a:ea typeface="Aptos"/>
                <a:cs typeface="Aptos"/>
              </a:rPr>
              <a:t>2022–26</a:t>
            </a:r>
          </a:p>
        </p:txBody>
      </p:sp>
      <p:sp>
        <p:nvSpPr>
          <p:cNvPr id="34" name="">
            <a:extLst xmlns:a="http://schemas.openxmlformats.org/drawingml/2006/main">
              <a:ext uri="{FF2B5EF4-FFF2-40B4-BE49-F238E27FC236}">
                <a16:creationId xmlns:a16="http://schemas.microsoft.com/office/drawing/2014/main" id="{32608BF0-7E53-4431-A02F-1B75FC07EB4E}"/>
              </a:ext>
            </a:extLst>
          </p:cNvPr>
          <p:cNvSpPr>
            <a:spLocks xmlns:a="http://schemas.openxmlformats.org/drawingml/2006/main" noGrp="1"/>
          </p:cNvSpPr>
          <p:nvPr/>
        </p:nvSpPr>
        <p:spPr>
          <a:xfrm xmlns:a="http://schemas.openxmlformats.org/drawingml/2006/main">
            <a:off x="9667875" y="4524375"/>
            <a:ext cx="1866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i="0">
                <a:solidFill>
                  <a:srgbClr val="17212B"/>
                </a:solidFill>
                <a:latin typeface="Aptos"/>
                <a:ea typeface="Aptos"/>
                <a:cs typeface="Aptos"/>
              </a:defRPr>
            </a:pPr>
            <a:r>
              <a:rPr sz="1275" b="1" i="0">
                <a:solidFill>
                  <a:srgbClr val="17212B"/>
                </a:solidFill>
                <a:latin typeface="Aptos"/>
                <a:ea typeface="Aptos"/>
                <a:cs typeface="Aptos"/>
              </a:rPr>
              <a:t>Publicación y retorno</a:t>
            </a:r>
          </a:p>
        </p:txBody>
      </p:sp>
      <p:sp>
        <p:nvSpPr>
          <p:cNvPr id="35" name="">
            <a:extLst xmlns:a="http://schemas.openxmlformats.org/drawingml/2006/main">
              <a:ext uri="{FF2B5EF4-FFF2-40B4-BE49-F238E27FC236}">
                <a16:creationId xmlns:a16="http://schemas.microsoft.com/office/drawing/2014/main" id="{7A0DEF62-9BA6-46AD-B0CC-ED4BE8B7AD2E}"/>
              </a:ext>
            </a:extLst>
          </p:cNvPr>
          <p:cNvSpPr>
            <a:spLocks xmlns:a="http://schemas.openxmlformats.org/drawingml/2006/main" noGrp="1"/>
          </p:cNvSpPr>
          <p:nvPr/>
        </p:nvSpPr>
        <p:spPr>
          <a:xfrm xmlns:a="http://schemas.openxmlformats.org/drawingml/2006/main">
            <a:off x="9667875" y="4905375"/>
            <a:ext cx="1866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i="0">
                <a:solidFill>
                  <a:srgbClr val="65717D"/>
                </a:solidFill>
                <a:latin typeface="Aptos"/>
                <a:ea typeface="Aptos"/>
                <a:cs typeface="Aptos"/>
              </a:defRPr>
            </a:pPr>
            <a:r>
              <a:rPr sz="1125" b="0" i="0">
                <a:solidFill>
                  <a:srgbClr val="65717D"/>
                </a:solidFill>
                <a:latin typeface="Aptos"/>
                <a:ea typeface="Aptos"/>
                <a:cs typeface="Aptos"/>
              </a:rPr>
              <a:t>UP, BCE y Perú</a:t>
            </a:r>
          </a:p>
        </p:txBody>
      </p:sp>
      <p:sp>
        <p:nvSpPr>
          <p:cNvPr id="36" name="">
            <a:extLst xmlns:a="http://schemas.openxmlformats.org/drawingml/2006/main">
              <a:ext uri="{FF2B5EF4-FFF2-40B4-BE49-F238E27FC236}">
                <a16:creationId xmlns:a16="http://schemas.microsoft.com/office/drawing/2014/main" id="{D0F19A9A-2885-4FE8-9CCD-ADC4762561F6}"/>
              </a:ext>
            </a:extLst>
          </p:cNvPr>
          <p:cNvSpPr>
            <a:spLocks xmlns:a="http://schemas.openxmlformats.org/drawingml/2006/main" noGrp="1"/>
          </p:cNvSpPr>
          <p:nvPr/>
        </p:nvSpPr>
        <p:spPr>
          <a:xfrm xmlns:a="http://schemas.openxmlformats.org/drawingml/2006/main">
            <a:off x="971550" y="5505450"/>
            <a:ext cx="10248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0" i="1">
                <a:solidFill>
                  <a:srgbClr val="A63D40"/>
                </a:solidFill>
                <a:latin typeface="Aptos"/>
                <a:ea typeface="Aptos"/>
                <a:cs typeface="Aptos"/>
              </a:defRPr>
            </a:pPr>
            <a:r>
              <a:rPr sz="1500" b="0" i="1">
                <a:solidFill>
                  <a:srgbClr val="A63D40"/>
                </a:solidFill>
                <a:latin typeface="Aptos"/>
                <a:ea typeface="Aptos"/>
                <a:cs typeface="Aptos"/>
              </a:rPr>
              <a:t>Cautela: la cronología documenta precedencia; no demuestra identidad entre política y modelo ni causalidad intelectual.</a:t>
            </a:r>
          </a:p>
        </p:txBody>
      </p:sp>
      <p:sp>
        <p:nvSpPr>
          <p:cNvPr id="37" name="">
            <a:extLst xmlns:a="http://schemas.openxmlformats.org/drawingml/2006/main">
              <a:ext uri="{FF2B5EF4-FFF2-40B4-BE49-F238E27FC236}">
                <a16:creationId xmlns:a16="http://schemas.microsoft.com/office/drawing/2014/main" id="{9E711F47-15FC-4417-B66E-38AA67132FD5}"/>
              </a:ext>
            </a:extLst>
          </p:cNvPr>
          <p:cNvSpPr>
            <a:spLocks xmlns:a="http://schemas.openxmlformats.org/drawingml/2006/main" noGrp="1"/>
          </p:cNvSpPr>
          <p:nvPr/>
        </p:nvSpPr>
        <p:spPr>
          <a:xfrm xmlns:a="http://schemas.openxmlformats.org/drawingml/2006/main">
            <a:off x="895350" y="5905500"/>
            <a:ext cx="10401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5093"/>
          </a:bodyPr>
          <a:lstStyle xmlns:a="http://schemas.openxmlformats.org/drawingml/2006/main"/>
          <a:p xmlns:a="http://schemas.openxmlformats.org/drawingml/2006/main">
            <a:pPr algn="ctr">
              <a:defRPr sz="1650" b="1" i="0">
                <a:solidFill>
                  <a:srgbClr val="102A43"/>
                </a:solidFill>
                <a:latin typeface="Aptos"/>
                <a:ea typeface="Aptos"/>
                <a:cs typeface="Aptos"/>
              </a:defRPr>
            </a:pPr>
            <a:r>
              <a:rPr sz="1650" b="1" i="0">
                <a:solidFill>
                  <a:srgbClr val="102A43"/>
                </a:solidFill>
                <a:latin typeface="Aptos"/>
                <a:ea typeface="Aptos"/>
                <a:cs typeface="Aptos"/>
              </a:rPr>
              <a:t>En suma, una anomalía institucional peruana se convierte en un problema macroeconómico general y luego regresa como criterio de política.</a:t>
            </a:r>
          </a:p>
        </p:txBody>
      </p:sp>
      <p:sp>
        <p:nvSpPr>
          <p:cNvPr id="38" name="">
            <a:extLst xmlns:a="http://schemas.openxmlformats.org/drawingml/2006/main">
              <a:ext uri="{FF2B5EF4-FFF2-40B4-BE49-F238E27FC236}">
                <a16:creationId xmlns:a16="http://schemas.microsoft.com/office/drawing/2014/main" id="{6F72CB28-5CB2-47F6-AF34-986477A42E16}"/>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line">
            <a:avLst/>
          </a:prstGeom>
          <a:noFill xmlns:a="http://schemas.openxmlformats.org/drawingml/2006/main"/>
          <a:ln xmlns:a="http://schemas.openxmlformats.org/drawingml/2006/main" w="9525">
            <a:solidFill>
              <a:srgbClr val="E8DED0"/>
            </a:solidFill>
            <a:prstDash val="solid"/>
          </a:ln>
        </p:spPr>
      </p:sp>
      <p:sp>
        <p:nvSpPr>
          <p:cNvPr id="39" name="">
            <a:extLst xmlns:a="http://schemas.openxmlformats.org/drawingml/2006/main">
              <a:ext uri="{FF2B5EF4-FFF2-40B4-BE49-F238E27FC236}">
                <a16:creationId xmlns:a16="http://schemas.microsoft.com/office/drawing/2014/main" id="{6FABE6F5-9D51-447B-B536-A341952FF24A}"/>
              </a:ext>
            </a:extLst>
          </p:cNvPr>
          <p:cNvSpPr>
            <a:spLocks xmlns:a="http://schemas.openxmlformats.org/drawingml/2006/main" noGrp="1"/>
          </p:cNvSpPr>
          <p:nvPr/>
        </p:nvSpPr>
        <p:spPr>
          <a:xfrm xmlns:a="http://schemas.openxmlformats.org/drawingml/2006/main">
            <a:off x="609600" y="6486525"/>
            <a:ext cx="1076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88" b="0" i="0">
                <a:solidFill>
                  <a:srgbClr val="65717D"/>
                </a:solidFill>
                <a:latin typeface="Aptos"/>
                <a:ea typeface="Aptos"/>
                <a:cs typeface="Aptos"/>
              </a:defRPr>
            </a:pPr>
            <a:r>
              <a:rPr sz="788" b="0" i="0">
                <a:solidFill>
                  <a:srgbClr val="65717D"/>
                </a:solidFill>
                <a:latin typeface="Aptos"/>
                <a:ea typeface="Aptos"/>
                <a:cs typeface="Aptos"/>
              </a:rPr>
              <a:t>Fuentes: Rossini (2016: 27); Quispe y Rossini (2010: 299, 304, 308, 310); Bigio (2022: 371–379); OpenAlex W2188338937.</a:t>
            </a:r>
          </a:p>
        </p:txBody>
      </p:sp>
    </p:spTree>
    <p:extLst>
      <p:ext uri="{BB962C8B-B14F-4D97-AF65-F5344CB8AC3E}">
        <p14:creationId xmlns:p14="http://schemas.microsoft.com/office/powerpoint/2010/main" val="11168703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2293F86-B1F0-43D1-AEFC-2BE0A2F1088B}"/>
              </a:ext>
            </a:extLst>
          </p:cNvPr>
          <p:cNvSpPr>
            <a:spLocks xmlns:a="http://schemas.openxmlformats.org/drawingml/2006/main" noGrp="1"/>
          </p:cNvSpPr>
          <p:nvPr/>
        </p:nvSpPr>
        <p:spPr>
          <a:xfrm xmlns:a="http://schemas.openxmlformats.org/drawingml/2006/main">
            <a:off x="609600" y="323850"/>
            <a:ext cx="514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A63D40"/>
                </a:solidFill>
                <a:latin typeface="Aptos"/>
                <a:ea typeface="Aptos"/>
                <a:cs typeface="Aptos"/>
              </a:defRPr>
            </a:pPr>
            <a:r>
              <a:rPr sz="1050" b="1" i="0">
                <a:solidFill>
                  <a:srgbClr val="A63D40"/>
                </a:solidFill>
                <a:latin typeface="Aptos"/>
                <a:ea typeface="Aptos"/>
                <a:cs typeface="Aptos"/>
              </a:rPr>
              <a:t>RESPALDO BIBLIOMÉTRICO</a:t>
            </a:r>
          </a:p>
        </p:txBody>
      </p:sp>
      <p:sp>
        <p:nvSpPr>
          <p:cNvPr id="2" name="">
            <a:extLst xmlns:a="http://schemas.openxmlformats.org/drawingml/2006/main">
              <a:ext uri="{FF2B5EF4-FFF2-40B4-BE49-F238E27FC236}">
                <a16:creationId xmlns:a16="http://schemas.microsoft.com/office/drawing/2014/main" id="{C4DD2A4A-14C0-42D8-BB51-DAD5BB0E34DE}"/>
              </a:ext>
            </a:extLst>
          </p:cNvPr>
          <p:cNvSpPr>
            <a:spLocks xmlns:a="http://schemas.openxmlformats.org/drawingml/2006/main" noGrp="1"/>
          </p:cNvSpPr>
          <p:nvPr/>
        </p:nvSpPr>
        <p:spPr>
          <a:xfrm xmlns:a="http://schemas.openxmlformats.org/drawingml/2006/main">
            <a:off x="609600" y="600075"/>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00" b="1" i="0">
                <a:solidFill>
                  <a:srgbClr val="102A43"/>
                </a:solidFill>
                <a:latin typeface="Aptos"/>
                <a:ea typeface="Aptos"/>
                <a:cs typeface="Aptos"/>
              </a:defRPr>
            </a:pPr>
            <a:r>
              <a:rPr sz="3000" b="1" i="0">
                <a:solidFill>
                  <a:srgbClr val="102A43"/>
                </a:solidFill>
                <a:latin typeface="Aptos"/>
                <a:ea typeface="Aptos"/>
                <a:cs typeface="Aptos"/>
              </a:rPr>
              <a:t>Impacto: las obras centrales mantienen una recepción sostenida</a:t>
            </a:r>
          </a:p>
        </p:txBody>
      </p:sp>
      <p:sp>
        <p:nvSpPr>
          <p:cNvPr id="3" name="">
            <a:extLst xmlns:a="http://schemas.openxmlformats.org/drawingml/2006/main">
              <a:ext uri="{FF2B5EF4-FFF2-40B4-BE49-F238E27FC236}">
                <a16:creationId xmlns:a16="http://schemas.microsoft.com/office/drawing/2014/main" id="{8A21F201-CB49-4CE5-9AD5-33375794E321}"/>
              </a:ext>
            </a:extLst>
          </p:cNvPr>
          <p:cNvSpPr>
            <a:spLocks xmlns:a="http://schemas.openxmlformats.org/drawingml/2006/main" noGrp="1"/>
          </p:cNvSpPr>
          <p:nvPr/>
        </p:nvSpPr>
        <p:spPr>
          <a:xfrm xmlns:a="http://schemas.openxmlformats.org/drawingml/2006/main">
            <a:off x="609600" y="1209675"/>
            <a:ext cx="10972800" cy="9525"/>
          </a:xfrm>
          <a:prstGeom xmlns:a="http://schemas.openxmlformats.org/drawingml/2006/main" prst="line">
            <a:avLst/>
          </a:prstGeom>
          <a:noFill xmlns:a="http://schemas.openxmlformats.org/drawingml/2006/main"/>
          <a:ln xmlns:a="http://schemas.openxmlformats.org/drawingml/2006/main" w="19050">
            <a:solidFill>
              <a:srgbClr val="E8DED0"/>
            </a:solidFill>
            <a:prstDash val="solid"/>
          </a:ln>
        </p:spPr>
      </p:sp>
      <p:sp>
        <p:nvSpPr>
          <p:cNvPr id="4" name="">
            <a:extLst xmlns:a="http://schemas.openxmlformats.org/drawingml/2006/main">
              <a:ext uri="{FF2B5EF4-FFF2-40B4-BE49-F238E27FC236}">
                <a16:creationId xmlns:a16="http://schemas.microsoft.com/office/drawing/2014/main" id="{417FC21A-2E42-4354-89C1-70D1B7C98AC7}"/>
              </a:ext>
            </a:extLst>
          </p:cNvPr>
          <p:cNvSpPr>
            <a:spLocks xmlns:a="http://schemas.openxmlformats.org/drawingml/2006/main" noGrp="1"/>
          </p:cNvSpPr>
          <p:nvPr/>
        </p:nvSpPr>
        <p:spPr>
          <a:xfrm xmlns:a="http://schemas.openxmlformats.org/drawingml/2006/main">
            <a:off x="11144250" y="32385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i="0">
                <a:solidFill>
                  <a:srgbClr val="65717D"/>
                </a:solidFill>
                <a:latin typeface="Aptos"/>
                <a:ea typeface="Aptos"/>
                <a:cs typeface="Aptos"/>
              </a:defRPr>
            </a:pPr>
            <a:r>
              <a:rPr sz="1125" b="1" i="0">
                <a:solidFill>
                  <a:srgbClr val="65717D"/>
                </a:solidFill>
                <a:latin typeface="Aptos"/>
                <a:ea typeface="Aptos"/>
                <a:cs typeface="Aptos"/>
              </a:rPr>
              <a:t>06</a:t>
            </a:r>
          </a:p>
        </p:txBody>
      </p:sp>
      <p:sp>
        <p:nvSpPr>
          <p:cNvPr id="5" name="">
            <a:extLst xmlns:a="http://schemas.openxmlformats.org/drawingml/2006/main">
              <a:ext uri="{FF2B5EF4-FFF2-40B4-BE49-F238E27FC236}">
                <a16:creationId xmlns:a16="http://schemas.microsoft.com/office/drawing/2014/main" id="{B6B09A1E-123F-4344-AB84-5B0821FB275F}"/>
              </a:ext>
            </a:extLst>
          </p:cNvPr>
          <p:cNvSpPr>
            <a:spLocks xmlns:a="http://schemas.openxmlformats.org/drawingml/2006/main" noGrp="1"/>
          </p:cNvSpPr>
          <p:nvPr/>
        </p:nvSpPr>
        <p:spPr>
          <a:xfrm xmlns:a="http://schemas.openxmlformats.org/drawingml/2006/main">
            <a:off x="609600" y="1400175"/>
            <a:ext cx="10972800" cy="3838575"/>
          </a:xfrm>
          <a:prstGeom xmlns:a="http://schemas.openxmlformats.org/drawingml/2006/main" prst="roundRect">
            <a:avLst>
              <a:gd name="adj" fmla="val 2978"/>
            </a:avLst>
          </a:prstGeom>
          <a:solidFill xmlns:a="http://schemas.openxmlformats.org/drawingml/2006/main">
            <a:srgbClr val="FFFFFF"/>
          </a:solidFill>
          <a:ln xmlns:a="http://schemas.openxmlformats.org/drawingml/2006/main" w="9525">
            <a:solidFill>
              <a:srgbClr val="E8DED0"/>
            </a:solidFill>
            <a:prstDash val="solid"/>
          </a:ln>
        </p:spPr>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f8d464574e264b5c"/>
          <a:stretch xmlns:a="http://schemas.openxmlformats.org/drawingml/2006/main"/>
        </p:blipFill>
        <p:spPr>
          <a:xfrm xmlns:a="http://schemas.openxmlformats.org/drawingml/2006/main">
            <a:off x="687798" y="1476375"/>
            <a:ext cx="10816404" cy="368617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176DE643-414E-4E61-8D27-F89D2FB39947}"/>
              </a:ext>
            </a:extLst>
          </p:cNvPr>
          <p:cNvSpPr>
            <a:spLocks xmlns:a="http://schemas.openxmlformats.org/drawingml/2006/main" noGrp="1"/>
          </p:cNvSpPr>
          <p:nvPr/>
        </p:nvSpPr>
        <p:spPr>
          <a:xfrm xmlns:a="http://schemas.openxmlformats.org/drawingml/2006/main">
            <a:off x="1123950" y="5438775"/>
            <a:ext cx="9944100" cy="638175"/>
          </a:xfrm>
          <a:prstGeom xmlns:a="http://schemas.openxmlformats.org/drawingml/2006/main" prst="roundRect">
            <a:avLst>
              <a:gd name="adj" fmla="val 17910"/>
            </a:avLst>
          </a:prstGeom>
          <a:solidFill xmlns:a="http://schemas.openxmlformats.org/drawingml/2006/main">
            <a:srgbClr val="F7F3E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98F70C0-BF40-4337-A73C-2CD80DA287E1}"/>
              </a:ext>
            </a:extLst>
          </p:cNvPr>
          <p:cNvSpPr>
            <a:spLocks xmlns:a="http://schemas.openxmlformats.org/drawingml/2006/main" noGrp="1"/>
          </p:cNvSpPr>
          <p:nvPr/>
        </p:nvSpPr>
        <p:spPr>
          <a:xfrm xmlns:a="http://schemas.openxmlformats.org/drawingml/2006/main">
            <a:off x="1352550" y="5610225"/>
            <a:ext cx="9486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276"/>
          </a:bodyPr>
          <a:lstStyle xmlns:a="http://schemas.openxmlformats.org/drawingml/2006/main"/>
          <a:p xmlns:a="http://schemas.openxmlformats.org/drawingml/2006/main">
            <a:pPr algn="ctr">
              <a:defRPr sz="1425" b="1" i="0">
                <a:solidFill>
                  <a:srgbClr val="102A43"/>
                </a:solidFill>
                <a:latin typeface="Aptos"/>
                <a:ea typeface="Aptos"/>
                <a:cs typeface="Aptos"/>
              </a:defRPr>
            </a:pPr>
            <a:r>
              <a:rPr sz="1425" b="1" i="0">
                <a:solidFill>
                  <a:srgbClr val="102A43"/>
                </a:solidFill>
                <a:latin typeface="Aptos"/>
                <a:ea typeface="Aptos"/>
                <a:cs typeface="Aptos"/>
              </a:rPr>
              <a:t>34 obras canónicas · una versión representativa por obra · FWCI destacado: Endogenous Liquidity 61,6; Production Networks 42,8</a:t>
            </a:r>
          </a:p>
        </p:txBody>
      </p:sp>
      <p:sp>
        <p:nvSpPr>
          <p:cNvPr id="9" name="">
            <a:extLst xmlns:a="http://schemas.openxmlformats.org/drawingml/2006/main">
              <a:ext uri="{FF2B5EF4-FFF2-40B4-BE49-F238E27FC236}">
                <a16:creationId xmlns:a16="http://schemas.microsoft.com/office/drawing/2014/main" id="{F5017E78-A03E-478A-84FB-C55665910827}"/>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line">
            <a:avLst/>
          </a:prstGeom>
          <a:noFill xmlns:a="http://schemas.openxmlformats.org/drawingml/2006/main"/>
          <a:ln xmlns:a="http://schemas.openxmlformats.org/drawingml/2006/main" w="9525">
            <a:solidFill>
              <a:srgbClr val="E8DED0"/>
            </a:solidFill>
            <a:prstDash val="solid"/>
          </a:ln>
        </p:spPr>
      </p:sp>
      <p:sp>
        <p:nvSpPr>
          <p:cNvPr id="10" name="">
            <a:extLst xmlns:a="http://schemas.openxmlformats.org/drawingml/2006/main">
              <a:ext uri="{FF2B5EF4-FFF2-40B4-BE49-F238E27FC236}">
                <a16:creationId xmlns:a16="http://schemas.microsoft.com/office/drawing/2014/main" id="{EB457280-E2E4-45E3-8B2D-180A908AA2B1}"/>
              </a:ext>
            </a:extLst>
          </p:cNvPr>
          <p:cNvSpPr>
            <a:spLocks xmlns:a="http://schemas.openxmlformats.org/drawingml/2006/main" noGrp="1"/>
          </p:cNvSpPr>
          <p:nvPr/>
        </p:nvSpPr>
        <p:spPr>
          <a:xfrm xmlns:a="http://schemas.openxmlformats.org/drawingml/2006/main">
            <a:off x="609600" y="6486525"/>
            <a:ext cx="1076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88" b="0" i="0">
                <a:solidFill>
                  <a:srgbClr val="65717D"/>
                </a:solidFill>
                <a:latin typeface="Aptos"/>
                <a:ea typeface="Aptos"/>
                <a:cs typeface="Aptos"/>
              </a:defRPr>
            </a:pPr>
            <a:r>
              <a:rPr sz="788" b="0" i="0">
                <a:solidFill>
                  <a:srgbClr val="65717D"/>
                </a:solidFill>
                <a:latin typeface="Aptos"/>
                <a:ea typeface="Aptos"/>
                <a:cs typeface="Aptos"/>
              </a:rPr>
              <a:t>Fuente: analisis_bibliometrico.ipynb, figura 02. OpenAlex, corte 14/09/2026; no se suman versiones de un mismo trabajo.</a:t>
            </a:r>
          </a:p>
        </p:txBody>
      </p:sp>
    </p:spTree>
    <p:extLst>
      <p:ext uri="{BB962C8B-B14F-4D97-AF65-F5344CB8AC3E}">
        <p14:creationId xmlns:p14="http://schemas.microsoft.com/office/powerpoint/2010/main" val="1787764012"/>
      </p:ext>
    </p:extLst>
  </p:cSld>
</p:sld>
</file>

<file path=ppt/slides/slide7.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84D2DDD-ECA0-472A-A9FB-57DDEB642A12}"/>
              </a:ext>
            </a:extLst>
          </p:cNvPr>
          <p:cNvSpPr>
            <a:spLocks xmlns:a="http://schemas.openxmlformats.org/drawingml/2006/main" noGrp="1"/>
          </p:cNvSpPr>
          <p:nvPr/>
        </p:nvSpPr>
        <p:spPr>
          <a:xfrm xmlns:a="http://schemas.openxmlformats.org/drawingml/2006/main">
            <a:off x="609600" y="323850"/>
            <a:ext cx="514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A63D40"/>
                </a:solidFill>
                <a:latin typeface="Aptos"/>
                <a:ea typeface="Aptos"/>
                <a:cs typeface="Aptos"/>
              </a:defRPr>
            </a:pPr>
            <a:r>
              <a:rPr sz="1050" b="1" i="0">
                <a:solidFill>
                  <a:srgbClr val="A63D40"/>
                </a:solidFill>
                <a:latin typeface="Aptos"/>
                <a:ea typeface="Aptos"/>
                <a:cs typeface="Aptos"/>
              </a:rPr>
              <a:t>RESPALDO DOCUMENTAL</a:t>
            </a:r>
          </a:p>
        </p:txBody>
      </p:sp>
      <p:sp>
        <p:nvSpPr>
          <p:cNvPr id="2" name="">
            <a:extLst xmlns:a="http://schemas.openxmlformats.org/drawingml/2006/main">
              <a:ext uri="{FF2B5EF4-FFF2-40B4-BE49-F238E27FC236}">
                <a16:creationId xmlns:a16="http://schemas.microsoft.com/office/drawing/2014/main" id="{0A5E1520-1D27-4FB6-B0AB-0573766C0C22}"/>
              </a:ext>
            </a:extLst>
          </p:cNvPr>
          <p:cNvSpPr>
            <a:spLocks xmlns:a="http://schemas.openxmlformats.org/drawingml/2006/main" noGrp="1"/>
          </p:cNvSpPr>
          <p:nvPr/>
        </p:nvSpPr>
        <p:spPr>
          <a:xfrm xmlns:a="http://schemas.openxmlformats.org/drawingml/2006/main">
            <a:off x="609600" y="600075"/>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00" b="1" i="0">
                <a:solidFill>
                  <a:srgbClr val="102A43"/>
                </a:solidFill>
                <a:latin typeface="Aptos"/>
                <a:ea typeface="Aptos"/>
                <a:cs typeface="Aptos"/>
              </a:defRPr>
            </a:pPr>
            <a:r>
              <a:rPr sz="3000" b="1" i="0">
                <a:solidFill>
                  <a:srgbClr val="102A43"/>
                </a:solidFill>
                <a:latin typeface="Aptos"/>
                <a:ea typeface="Aptos"/>
                <a:cs typeface="Aptos"/>
              </a:rPr>
              <a:t>Los working papers forman parte del pensamiento que circula</a:t>
            </a:r>
          </a:p>
        </p:txBody>
      </p:sp>
      <p:sp>
        <p:nvSpPr>
          <p:cNvPr id="3" name="">
            <a:extLst xmlns:a="http://schemas.openxmlformats.org/drawingml/2006/main">
              <a:ext uri="{FF2B5EF4-FFF2-40B4-BE49-F238E27FC236}">
                <a16:creationId xmlns:a16="http://schemas.microsoft.com/office/drawing/2014/main" id="{2111CECE-F80E-440A-96CD-750313F54675}"/>
              </a:ext>
            </a:extLst>
          </p:cNvPr>
          <p:cNvSpPr>
            <a:spLocks xmlns:a="http://schemas.openxmlformats.org/drawingml/2006/main" noGrp="1"/>
          </p:cNvSpPr>
          <p:nvPr/>
        </p:nvSpPr>
        <p:spPr>
          <a:xfrm xmlns:a="http://schemas.openxmlformats.org/drawingml/2006/main">
            <a:off x="609600" y="1209675"/>
            <a:ext cx="10972800" cy="9525"/>
          </a:xfrm>
          <a:prstGeom xmlns:a="http://schemas.openxmlformats.org/drawingml/2006/main" prst="line">
            <a:avLst/>
          </a:prstGeom>
          <a:noFill xmlns:a="http://schemas.openxmlformats.org/drawingml/2006/main"/>
          <a:ln xmlns:a="http://schemas.openxmlformats.org/drawingml/2006/main" w="19050">
            <a:solidFill>
              <a:srgbClr val="E8DED0"/>
            </a:solidFill>
            <a:prstDash val="solid"/>
          </a:ln>
        </p:spPr>
      </p:sp>
      <p:sp>
        <p:nvSpPr>
          <p:cNvPr id="4" name="">
            <a:extLst xmlns:a="http://schemas.openxmlformats.org/drawingml/2006/main">
              <a:ext uri="{FF2B5EF4-FFF2-40B4-BE49-F238E27FC236}">
                <a16:creationId xmlns:a16="http://schemas.microsoft.com/office/drawing/2014/main" id="{0977150D-87A1-4746-883D-DB7DBAD78A8F}"/>
              </a:ext>
            </a:extLst>
          </p:cNvPr>
          <p:cNvSpPr>
            <a:spLocks xmlns:a="http://schemas.openxmlformats.org/drawingml/2006/main" noGrp="1"/>
          </p:cNvSpPr>
          <p:nvPr/>
        </p:nvSpPr>
        <p:spPr>
          <a:xfrm xmlns:a="http://schemas.openxmlformats.org/drawingml/2006/main">
            <a:off x="11144250" y="32385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i="0">
                <a:solidFill>
                  <a:srgbClr val="65717D"/>
                </a:solidFill>
                <a:latin typeface="Aptos"/>
                <a:ea typeface="Aptos"/>
                <a:cs typeface="Aptos"/>
              </a:defRPr>
            </a:pPr>
            <a:r>
              <a:rPr sz="1125" b="1" i="0">
                <a:solidFill>
                  <a:srgbClr val="65717D"/>
                </a:solidFill>
                <a:latin typeface="Aptos"/>
                <a:ea typeface="Aptos"/>
                <a:cs typeface="Aptos"/>
              </a:rPr>
              <a:t>07</a:t>
            </a:r>
          </a:p>
        </p:txBody>
      </p:sp>
      <p:sp>
        <p:nvSpPr>
          <p:cNvPr id="5" name="">
            <a:extLst xmlns:a="http://schemas.openxmlformats.org/drawingml/2006/main">
              <a:ext uri="{FF2B5EF4-FFF2-40B4-BE49-F238E27FC236}">
                <a16:creationId xmlns:a16="http://schemas.microsoft.com/office/drawing/2014/main" id="{514D38AA-7DCF-4C11-AF2C-0325D944D25F}"/>
              </a:ext>
            </a:extLst>
          </p:cNvPr>
          <p:cNvSpPr>
            <a:spLocks xmlns:a="http://schemas.openxmlformats.org/drawingml/2006/main" noGrp="1"/>
          </p:cNvSpPr>
          <p:nvPr/>
        </p:nvSpPr>
        <p:spPr>
          <a:xfrm xmlns:a="http://schemas.openxmlformats.org/drawingml/2006/main">
            <a:off x="1143000" y="1362075"/>
            <a:ext cx="9906000" cy="4343400"/>
          </a:xfrm>
          <a:prstGeom xmlns:a="http://schemas.openxmlformats.org/drawingml/2006/main" prst="roundRect">
            <a:avLst>
              <a:gd name="adj" fmla="val 2632"/>
            </a:avLst>
          </a:prstGeom>
          <a:solidFill xmlns:a="http://schemas.openxmlformats.org/drawingml/2006/main">
            <a:srgbClr val="FFFFFF"/>
          </a:solidFill>
          <a:ln xmlns:a="http://schemas.openxmlformats.org/drawingml/2006/main" w="9525">
            <a:solidFill>
              <a:srgbClr val="E8DED0"/>
            </a:solidFill>
            <a:prstDash val="solid"/>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dff8201d02414065"/>
          <a:stretch xmlns:a="http://schemas.openxmlformats.org/drawingml/2006/main"/>
        </p:blipFill>
        <p:spPr>
          <a:xfrm xmlns:a="http://schemas.openxmlformats.org/drawingml/2006/main">
            <a:off x="1950975" y="1438275"/>
            <a:ext cx="8290050" cy="41910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B3AF5257-AB3C-45B3-9E96-04BC7CB72CF5}"/>
              </a:ext>
            </a:extLst>
          </p:cNvPr>
          <p:cNvSpPr>
            <a:spLocks xmlns:a="http://schemas.openxmlformats.org/drawingml/2006/main" noGrp="1"/>
          </p:cNvSpPr>
          <p:nvPr/>
        </p:nvSpPr>
        <p:spPr>
          <a:xfrm xmlns:a="http://schemas.openxmlformats.org/drawingml/2006/main">
            <a:off x="1581150" y="5829300"/>
            <a:ext cx="9029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i="0">
                <a:solidFill>
                  <a:srgbClr val="A63D40"/>
                </a:solidFill>
                <a:latin typeface="Aptos"/>
                <a:ea typeface="Aptos"/>
                <a:cs typeface="Aptos"/>
              </a:defRPr>
            </a:pPr>
            <a:r>
              <a:rPr sz="1575" b="1" i="0">
                <a:solidFill>
                  <a:srgbClr val="A63D40"/>
                </a:solidFill>
                <a:latin typeface="Aptos"/>
                <a:ea typeface="Aptos"/>
                <a:cs typeface="Aptos"/>
              </a:rPr>
              <a:t>Rezago medio: 4,8 años · mediana: 6 años · máximo observado: 9 años</a:t>
            </a:r>
          </a:p>
        </p:txBody>
      </p:sp>
      <p:sp>
        <p:nvSpPr>
          <p:cNvPr id="8" name="">
            <a:extLst xmlns:a="http://schemas.openxmlformats.org/drawingml/2006/main">
              <a:ext uri="{FF2B5EF4-FFF2-40B4-BE49-F238E27FC236}">
                <a16:creationId xmlns:a16="http://schemas.microsoft.com/office/drawing/2014/main" id="{6CEA1277-4360-4994-8807-4E5EDA001119}"/>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line">
            <a:avLst/>
          </a:prstGeom>
          <a:noFill xmlns:a="http://schemas.openxmlformats.org/drawingml/2006/main"/>
          <a:ln xmlns:a="http://schemas.openxmlformats.org/drawingml/2006/main" w="9525">
            <a:solidFill>
              <a:srgbClr val="E8DED0"/>
            </a:solidFill>
            <a:prstDash val="solid"/>
          </a:ln>
        </p:spPr>
      </p:sp>
      <p:sp>
        <p:nvSpPr>
          <p:cNvPr id="9" name="">
            <a:extLst xmlns:a="http://schemas.openxmlformats.org/drawingml/2006/main">
              <a:ext uri="{FF2B5EF4-FFF2-40B4-BE49-F238E27FC236}">
                <a16:creationId xmlns:a16="http://schemas.microsoft.com/office/drawing/2014/main" id="{C8E3D90D-7538-48EF-ACDB-9C0EE06C9A7A}"/>
              </a:ext>
            </a:extLst>
          </p:cNvPr>
          <p:cNvSpPr>
            <a:spLocks xmlns:a="http://schemas.openxmlformats.org/drawingml/2006/main" noGrp="1"/>
          </p:cNvSpPr>
          <p:nvPr/>
        </p:nvSpPr>
        <p:spPr>
          <a:xfrm xmlns:a="http://schemas.openxmlformats.org/drawingml/2006/main">
            <a:off x="609600" y="6486525"/>
            <a:ext cx="1076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88" b="0" i="0">
                <a:solidFill>
                  <a:srgbClr val="65717D"/>
                </a:solidFill>
                <a:latin typeface="Aptos"/>
                <a:ea typeface="Aptos"/>
                <a:cs typeface="Aptos"/>
              </a:defRPr>
            </a:pPr>
            <a:r>
              <a:rPr sz="788" b="0" i="0">
                <a:solidFill>
                  <a:srgbClr val="65717D"/>
                </a:solidFill>
                <a:latin typeface="Aptos"/>
                <a:ea typeface="Aptos"/>
                <a:cs typeface="Aptos"/>
              </a:rPr>
              <a:t>Fuente: analisis_bibliometrico.ipynb, figura 03; fechas de primera versión verificadas documentalmente.</a:t>
            </a:r>
          </a:p>
        </p:txBody>
      </p:sp>
    </p:spTree>
    <p:extLst>
      <p:ext uri="{BB962C8B-B14F-4D97-AF65-F5344CB8AC3E}">
        <p14:creationId xmlns:p14="http://schemas.microsoft.com/office/powerpoint/2010/main" val="68441562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CA5A672-1BEB-4A37-ACD0-76D9699A55CD}"/>
              </a:ext>
            </a:extLst>
          </p:cNvPr>
          <p:cNvSpPr>
            <a:spLocks xmlns:a="http://schemas.openxmlformats.org/drawingml/2006/main" noGrp="1"/>
          </p:cNvSpPr>
          <p:nvPr/>
        </p:nvSpPr>
        <p:spPr>
          <a:xfrm xmlns:a="http://schemas.openxmlformats.org/drawingml/2006/main">
            <a:off x="609600" y="323850"/>
            <a:ext cx="514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A63D40"/>
                </a:solidFill>
                <a:latin typeface="Aptos"/>
                <a:ea typeface="Aptos"/>
                <a:cs typeface="Aptos"/>
              </a:defRPr>
            </a:pPr>
            <a:r>
              <a:rPr sz="1050" b="1" i="0">
                <a:solidFill>
                  <a:srgbClr val="A63D40"/>
                </a:solidFill>
                <a:latin typeface="Aptos"/>
                <a:ea typeface="Aptos"/>
                <a:cs typeface="Aptos"/>
              </a:rPr>
              <a:t>RESPALDO METODOLÓGICO</a:t>
            </a:r>
          </a:p>
        </p:txBody>
      </p:sp>
      <p:sp>
        <p:nvSpPr>
          <p:cNvPr id="2" name="">
            <a:extLst xmlns:a="http://schemas.openxmlformats.org/drawingml/2006/main">
              <a:ext uri="{FF2B5EF4-FFF2-40B4-BE49-F238E27FC236}">
                <a16:creationId xmlns:a16="http://schemas.microsoft.com/office/drawing/2014/main" id="{60C2BFCB-E6F7-476E-88B1-B28F32BC7D13}"/>
              </a:ext>
            </a:extLst>
          </p:cNvPr>
          <p:cNvSpPr>
            <a:spLocks xmlns:a="http://schemas.openxmlformats.org/drawingml/2006/main" noGrp="1"/>
          </p:cNvSpPr>
          <p:nvPr/>
        </p:nvSpPr>
        <p:spPr>
          <a:xfrm xmlns:a="http://schemas.openxmlformats.org/drawingml/2006/main">
            <a:off x="609600" y="600075"/>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00" b="1" i="0">
                <a:solidFill>
                  <a:srgbClr val="102A43"/>
                </a:solidFill>
                <a:latin typeface="Aptos"/>
                <a:ea typeface="Aptos"/>
                <a:cs typeface="Aptos"/>
              </a:defRPr>
            </a:pPr>
            <a:r>
              <a:rPr sz="3000" b="1" i="0">
                <a:solidFill>
                  <a:srgbClr val="102A43"/>
                </a:solidFill>
                <a:latin typeface="Aptos"/>
                <a:ea typeface="Aptos"/>
                <a:cs typeface="Aptos"/>
              </a:rPr>
              <a:t>El corpus combina producción, discusión y política</a:t>
            </a:r>
          </a:p>
        </p:txBody>
      </p:sp>
      <p:sp>
        <p:nvSpPr>
          <p:cNvPr id="3" name="">
            <a:extLst xmlns:a="http://schemas.openxmlformats.org/drawingml/2006/main">
              <a:ext uri="{FF2B5EF4-FFF2-40B4-BE49-F238E27FC236}">
                <a16:creationId xmlns:a16="http://schemas.microsoft.com/office/drawing/2014/main" id="{5AEABCB7-3CD0-4A44-B96F-64A3D06C9545}"/>
              </a:ext>
            </a:extLst>
          </p:cNvPr>
          <p:cNvSpPr>
            <a:spLocks xmlns:a="http://schemas.openxmlformats.org/drawingml/2006/main" noGrp="1"/>
          </p:cNvSpPr>
          <p:nvPr/>
        </p:nvSpPr>
        <p:spPr>
          <a:xfrm xmlns:a="http://schemas.openxmlformats.org/drawingml/2006/main">
            <a:off x="609600" y="1209675"/>
            <a:ext cx="10972800" cy="9525"/>
          </a:xfrm>
          <a:prstGeom xmlns:a="http://schemas.openxmlformats.org/drawingml/2006/main" prst="line">
            <a:avLst/>
          </a:prstGeom>
          <a:noFill xmlns:a="http://schemas.openxmlformats.org/drawingml/2006/main"/>
          <a:ln xmlns:a="http://schemas.openxmlformats.org/drawingml/2006/main" w="19050">
            <a:solidFill>
              <a:srgbClr val="E8DED0"/>
            </a:solidFill>
            <a:prstDash val="solid"/>
          </a:ln>
        </p:spPr>
      </p:sp>
      <p:sp>
        <p:nvSpPr>
          <p:cNvPr id="4" name="">
            <a:extLst xmlns:a="http://schemas.openxmlformats.org/drawingml/2006/main">
              <a:ext uri="{FF2B5EF4-FFF2-40B4-BE49-F238E27FC236}">
                <a16:creationId xmlns:a16="http://schemas.microsoft.com/office/drawing/2014/main" id="{2BBA0E26-505E-4BF4-9DE5-77267890895E}"/>
              </a:ext>
            </a:extLst>
          </p:cNvPr>
          <p:cNvSpPr>
            <a:spLocks xmlns:a="http://schemas.openxmlformats.org/drawingml/2006/main" noGrp="1"/>
          </p:cNvSpPr>
          <p:nvPr/>
        </p:nvSpPr>
        <p:spPr>
          <a:xfrm xmlns:a="http://schemas.openxmlformats.org/drawingml/2006/main">
            <a:off x="11144250" y="32385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i="0">
                <a:solidFill>
                  <a:srgbClr val="65717D"/>
                </a:solidFill>
                <a:latin typeface="Aptos"/>
                <a:ea typeface="Aptos"/>
                <a:cs typeface="Aptos"/>
              </a:defRPr>
            </a:pPr>
            <a:r>
              <a:rPr sz="1125" b="1" i="0">
                <a:solidFill>
                  <a:srgbClr val="65717D"/>
                </a:solidFill>
                <a:latin typeface="Aptos"/>
                <a:ea typeface="Aptos"/>
                <a:cs typeface="Aptos"/>
              </a:rPr>
              <a:t>08</a:t>
            </a:r>
          </a:p>
        </p:txBody>
      </p:sp>
      <p:sp>
        <p:nvSpPr>
          <p:cNvPr id="5" name="">
            <a:extLst xmlns:a="http://schemas.openxmlformats.org/drawingml/2006/main">
              <a:ext uri="{FF2B5EF4-FFF2-40B4-BE49-F238E27FC236}">
                <a16:creationId xmlns:a16="http://schemas.microsoft.com/office/drawing/2014/main" id="{30BBA0D6-925A-4698-91FE-7351B29F083F}"/>
              </a:ext>
            </a:extLst>
          </p:cNvPr>
          <p:cNvSpPr>
            <a:spLocks xmlns:a="http://schemas.openxmlformats.org/drawingml/2006/main" noGrp="1"/>
          </p:cNvSpPr>
          <p:nvPr/>
        </p:nvSpPr>
        <p:spPr>
          <a:xfrm xmlns:a="http://schemas.openxmlformats.org/drawingml/2006/main">
            <a:off x="609600" y="1400175"/>
            <a:ext cx="10972800" cy="3648075"/>
          </a:xfrm>
          <a:prstGeom xmlns:a="http://schemas.openxmlformats.org/drawingml/2006/main" prst="roundRect">
            <a:avLst>
              <a:gd name="adj" fmla="val 3133"/>
            </a:avLst>
          </a:prstGeom>
          <a:solidFill xmlns:a="http://schemas.openxmlformats.org/drawingml/2006/main">
            <a:srgbClr val="FFFFFF"/>
          </a:solidFill>
          <a:ln xmlns:a="http://schemas.openxmlformats.org/drawingml/2006/main" w="9525">
            <a:solidFill>
              <a:srgbClr val="E8DED0"/>
            </a:solidFill>
            <a:prstDash val="solid"/>
          </a:ln>
        </p:spPr>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953b85d8ac3c469a"/>
          <a:stretch xmlns:a="http://schemas.openxmlformats.org/drawingml/2006/main"/>
        </p:blipFill>
        <p:spPr>
          <a:xfrm xmlns:a="http://schemas.openxmlformats.org/drawingml/2006/main">
            <a:off x="685800" y="1476911"/>
            <a:ext cx="10820400" cy="3494603"/>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8AB7EFB9-D72E-4B8E-BC2E-B4B1AEE23093}"/>
              </a:ext>
            </a:extLst>
          </p:cNvPr>
          <p:cNvSpPr>
            <a:spLocks xmlns:a="http://schemas.openxmlformats.org/drawingml/2006/main" noGrp="1"/>
          </p:cNvSpPr>
          <p:nvPr/>
        </p:nvSpPr>
        <p:spPr>
          <a:xfrm xmlns:a="http://schemas.openxmlformats.org/drawingml/2006/main">
            <a:off x="781050" y="5267325"/>
            <a:ext cx="10629900" cy="781050"/>
          </a:xfrm>
          <a:prstGeom xmlns:a="http://schemas.openxmlformats.org/drawingml/2006/main" prst="roundRect">
            <a:avLst>
              <a:gd name="adj" fmla="val 14634"/>
            </a:avLst>
          </a:prstGeom>
          <a:solidFill xmlns:a="http://schemas.openxmlformats.org/drawingml/2006/main">
            <a:srgbClr val="DCEAE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D540E9D-9873-43C5-A64C-ACBE4C495B5E}"/>
              </a:ext>
            </a:extLst>
          </p:cNvPr>
          <p:cNvSpPr>
            <a:spLocks xmlns:a="http://schemas.openxmlformats.org/drawingml/2006/main" noGrp="1"/>
          </p:cNvSpPr>
          <p:nvPr/>
        </p:nvSpPr>
        <p:spPr>
          <a:xfrm xmlns:a="http://schemas.openxmlformats.org/drawingml/2006/main">
            <a:off x="1028700" y="5448300"/>
            <a:ext cx="10134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102A43"/>
                </a:solidFill>
                <a:latin typeface="Aptos"/>
                <a:ea typeface="Aptos"/>
                <a:cs typeface="Aptos"/>
              </a:defRPr>
            </a:pPr>
            <a:r>
              <a:rPr sz="1350" b="1" i="0">
                <a:solidFill>
                  <a:srgbClr val="102A43"/>
                </a:solidFill>
                <a:latin typeface="Aptos"/>
                <a:ea typeface="Aptos"/>
                <a:cs typeface="Aptos"/>
              </a:rPr>
              <a:t>48 documentos: 13 artículos publicados · 11 working papers o R&amp;R · 15 discussions · 2 pre-PhD · 1 capítulo · 1 carta de política · 1 research vision · 1 divulgación · 3 comentarios publicados</a:t>
            </a:r>
          </a:p>
        </p:txBody>
      </p:sp>
      <p:sp>
        <p:nvSpPr>
          <p:cNvPr id="9" name="">
            <a:extLst xmlns:a="http://schemas.openxmlformats.org/drawingml/2006/main">
              <a:ext uri="{FF2B5EF4-FFF2-40B4-BE49-F238E27FC236}">
                <a16:creationId xmlns:a16="http://schemas.microsoft.com/office/drawing/2014/main" id="{71609300-8841-449A-85AC-3C4B5742F7BC}"/>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line">
            <a:avLst/>
          </a:prstGeom>
          <a:noFill xmlns:a="http://schemas.openxmlformats.org/drawingml/2006/main"/>
          <a:ln xmlns:a="http://schemas.openxmlformats.org/drawingml/2006/main" w="9525">
            <a:solidFill>
              <a:srgbClr val="E8DED0"/>
            </a:solidFill>
            <a:prstDash val="solid"/>
          </a:ln>
        </p:spPr>
      </p:sp>
      <p:sp>
        <p:nvSpPr>
          <p:cNvPr id="10" name="">
            <a:extLst xmlns:a="http://schemas.openxmlformats.org/drawingml/2006/main">
              <a:ext uri="{FF2B5EF4-FFF2-40B4-BE49-F238E27FC236}">
                <a16:creationId xmlns:a16="http://schemas.microsoft.com/office/drawing/2014/main" id="{270ECD5C-DBA9-4865-9840-075D18E62E7B}"/>
              </a:ext>
            </a:extLst>
          </p:cNvPr>
          <p:cNvSpPr>
            <a:spLocks xmlns:a="http://schemas.openxmlformats.org/drawingml/2006/main" noGrp="1"/>
          </p:cNvSpPr>
          <p:nvPr/>
        </p:nvSpPr>
        <p:spPr>
          <a:xfrm xmlns:a="http://schemas.openxmlformats.org/drawingml/2006/main">
            <a:off x="609600" y="6486525"/>
            <a:ext cx="1076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88" b="0" i="0">
                <a:solidFill>
                  <a:srgbClr val="65717D"/>
                </a:solidFill>
                <a:latin typeface="Aptos"/>
                <a:ea typeface="Aptos"/>
                <a:cs typeface="Aptos"/>
              </a:defRPr>
            </a:pPr>
            <a:r>
              <a:rPr sz="788" b="0" i="0">
                <a:solidFill>
                  <a:srgbClr val="65717D"/>
                </a:solidFill>
                <a:latin typeface="Aptos"/>
                <a:ea typeface="Aptos"/>
                <a:cs typeface="Aptos"/>
              </a:rPr>
              <a:t>Fuente: analisis_bibliometrico.ipynb, figura 01; corpus.csv. La unidad temporal es la primera versión verificable.</a:t>
            </a:r>
          </a:p>
        </p:txBody>
      </p:sp>
    </p:spTree>
    <p:extLst>
      <p:ext uri="{BB962C8B-B14F-4D97-AF65-F5344CB8AC3E}">
        <p14:creationId xmlns:p14="http://schemas.microsoft.com/office/powerpoint/2010/main" val="79904892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2026-09-21T10:59:26.3480000Z</dcterms:created>
  <dcterms:modified xsi:type="dcterms:W3CDTF">2026-09-21T10:59:26.3480000Z</dcterms:modified>
</coreProperties>
</file>